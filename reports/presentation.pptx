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93957E-DD0E-6FB3-EF48-EA4E724FD3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F2D025-FF48-181F-58B6-949C9AC327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3EF853-71D1-40FA-29BD-B0C8D01A9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1A1A8D-CC96-6F28-0653-34FF02DE57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D86779-B60D-BAF2-C20F-01702514B2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BD8BD8-3581-5FB2-F2A1-CFD8695D1F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74265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10562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675097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567052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5679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03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98649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98861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700858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5667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64914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81911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05740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098781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10913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7675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315199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69429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17006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653942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472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7657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76018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085308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52898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487844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479406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994479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8153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8247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642345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8940829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6198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81147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906102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022596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950605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562417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81228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286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97729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43800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34788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226514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5755597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221695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2963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70941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297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9049800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52556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654259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17271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13464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493924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493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412523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95480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86458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10780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433940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2980399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542057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985373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8716901" name="TextBox 3"/>
          <p:cNvSpPr txBox="1"/>
          <p:nvPr/>
        </p:nvSpPr>
        <p:spPr bwMode="auto">
          <a:xfrm>
            <a:off x="11091671" y="126999"/>
            <a:ext cx="1006560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1 / </a:t>
            </a:r>
            <a:r>
              <a:rPr lang="fr-FR" sz="900" b="0" i="0">
                <a:solidFill>
                  <a:srgbClr val="8B8FA8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375795364" name="TextBox 4"/>
          <p:cNvSpPr txBox="1"/>
          <p:nvPr/>
        </p:nvSpPr>
        <p:spPr bwMode="auto">
          <a:xfrm>
            <a:off x="640080" y="1463040"/>
            <a:ext cx="8229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6C63FF"/>
                </a:solidFill>
                <a:latin typeface="Calibri"/>
              </a:rPr>
              <a:t>NLP &amp; SOCIAL MEDIA ANALYSIS</a:t>
            </a:r>
            <a:endParaRPr/>
          </a:p>
        </p:txBody>
      </p:sp>
      <p:sp>
        <p:nvSpPr>
          <p:cNvPr id="247501079" name="TextBox 5"/>
          <p:cNvSpPr txBox="1"/>
          <p:nvPr/>
        </p:nvSpPr>
        <p:spPr bwMode="auto">
          <a:xfrm>
            <a:off x="640080" y="1874519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E8EAF0"/>
                </a:solidFill>
                <a:latin typeface="Calibri"/>
              </a:rPr>
              <a:t>Detecting "We vs. Them" Language</a:t>
            </a:r>
            <a:br>
              <a:rPr sz="3000" b="1" i="0">
                <a:solidFill>
                  <a:srgbClr val="E8EAF0"/>
                </a:solidFill>
                <a:latin typeface="Calibri"/>
              </a:rPr>
            </a:br>
            <a:r>
              <a:rPr sz="3000" b="1" i="0">
                <a:solidFill>
                  <a:srgbClr val="E8EAF0"/>
                </a:solidFill>
                <a:latin typeface="Calibri"/>
              </a:rPr>
              <a:t>on Social Media</a:t>
            </a:r>
            <a:endParaRPr/>
          </a:p>
        </p:txBody>
      </p:sp>
      <p:sp>
        <p:nvSpPr>
          <p:cNvPr id="1116178490" name="Rectangle 6"/>
          <p:cNvSpPr/>
          <p:nvPr/>
        </p:nvSpPr>
        <p:spPr bwMode="auto">
          <a:xfrm>
            <a:off x="640080" y="3246120"/>
            <a:ext cx="457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744374" name="TextBox 7"/>
          <p:cNvSpPr txBox="1"/>
          <p:nvPr/>
        </p:nvSpPr>
        <p:spPr bwMode="auto">
          <a:xfrm>
            <a:off x="640080" y="3429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E8EAF0"/>
                </a:solidFill>
                <a:latin typeface="Calibri"/>
              </a:rPr>
              <a:t>A Multi-Platform NLP Pipeline for Othering Detection</a:t>
            </a:r>
            <a:endParaRPr/>
          </a:p>
        </p:txBody>
      </p:sp>
      <p:sp>
        <p:nvSpPr>
          <p:cNvPr id="1279965971" name="TextBox 8"/>
          <p:cNvSpPr txBox="1"/>
          <p:nvPr/>
        </p:nvSpPr>
        <p:spPr bwMode="auto">
          <a:xfrm>
            <a:off x="640080" y="3794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8B8FA8"/>
                </a:solidFill>
                <a:latin typeface="Calibri"/>
              </a:rPr>
              <a:t>Applied to Immigration Discourse across Reddit, Twitter, TikTok &amp; Instagram</a:t>
            </a:r>
            <a:endParaRPr/>
          </a:p>
        </p:txBody>
      </p:sp>
      <p:sp>
        <p:nvSpPr>
          <p:cNvPr id="1934412098" name="TextBox 9"/>
          <p:cNvSpPr txBox="1"/>
          <p:nvPr/>
        </p:nvSpPr>
        <p:spPr bwMode="auto">
          <a:xfrm>
            <a:off x="64008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8B8FA8"/>
                </a:solidFill>
                <a:latin typeface="Calibri"/>
              </a:rPr>
              <a:t>Julian Ray-Constanty  ·  Robert Gordon University  ·  2026</a:t>
            </a:r>
            <a:endParaRPr/>
          </a:p>
        </p:txBody>
      </p:sp>
      <p:sp>
        <p:nvSpPr>
          <p:cNvPr id="1265436742" name="Rectangle 10"/>
          <p:cNvSpPr/>
          <p:nvPr/>
        </p:nvSpPr>
        <p:spPr bwMode="auto">
          <a:xfrm>
            <a:off x="640080" y="4846320"/>
            <a:ext cx="1508759" cy="279400"/>
          </a:xfrm>
          <a:prstGeom prst="rect">
            <a:avLst/>
          </a:prstGeom>
          <a:solidFill>
            <a:srgbClr val="0F1117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0018701" name="TextBox 11"/>
          <p:cNvSpPr txBox="1"/>
          <p:nvPr/>
        </p:nvSpPr>
        <p:spPr bwMode="auto">
          <a:xfrm>
            <a:off x="690880" y="4864607"/>
            <a:ext cx="1407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6C63FF"/>
                </a:solidFill>
                <a:latin typeface="Calibri"/>
              </a:rPr>
              <a:t>Othering Detection</a:t>
            </a:r>
            <a:endParaRPr/>
          </a:p>
        </p:txBody>
      </p:sp>
      <p:sp>
        <p:nvSpPr>
          <p:cNvPr id="1809146190" name="Rectangle 12"/>
          <p:cNvSpPr/>
          <p:nvPr/>
        </p:nvSpPr>
        <p:spPr bwMode="auto">
          <a:xfrm>
            <a:off x="2225040" y="4846320"/>
            <a:ext cx="1508759" cy="279400"/>
          </a:xfrm>
          <a:prstGeom prst="rect">
            <a:avLst/>
          </a:prstGeom>
          <a:solidFill>
            <a:srgbClr val="0F1117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0106091" name="TextBox 13"/>
          <p:cNvSpPr txBox="1"/>
          <p:nvPr/>
        </p:nvSpPr>
        <p:spPr bwMode="auto">
          <a:xfrm>
            <a:off x="2275840" y="4864607"/>
            <a:ext cx="1407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00C9A7"/>
                </a:solidFill>
                <a:latin typeface="Calibri"/>
              </a:rPr>
              <a:t>26,465 posts · 4 platforms</a:t>
            </a:r>
            <a:endParaRPr/>
          </a:p>
        </p:txBody>
      </p:sp>
      <p:sp>
        <p:nvSpPr>
          <p:cNvPr id="1146675842" name="Rectangle 14"/>
          <p:cNvSpPr/>
          <p:nvPr/>
        </p:nvSpPr>
        <p:spPr bwMode="auto">
          <a:xfrm>
            <a:off x="3810000" y="4846320"/>
            <a:ext cx="1508759" cy="279400"/>
          </a:xfrm>
          <a:prstGeom prst="rect">
            <a:avLst/>
          </a:prstGeom>
          <a:solidFill>
            <a:srgbClr val="0F1117"/>
          </a:solidFill>
          <a:ln w="12700">
            <a:solidFill>
              <a:srgbClr val="8B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2641087" name="TextBox 15"/>
          <p:cNvSpPr txBox="1"/>
          <p:nvPr/>
        </p:nvSpPr>
        <p:spPr bwMode="auto">
          <a:xfrm>
            <a:off x="3860800" y="4864607"/>
            <a:ext cx="1407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8B8FA8"/>
                </a:solidFill>
                <a:latin typeface="Calibri"/>
              </a:rPr>
              <a:t>NLP Pipeline</a:t>
            </a:r>
            <a:endParaRPr/>
          </a:p>
        </p:txBody>
      </p:sp>
      <p:sp>
        <p:nvSpPr>
          <p:cNvPr id="1165391233" name="Rectangle 16"/>
          <p:cNvSpPr/>
          <p:nvPr/>
        </p:nvSpPr>
        <p:spPr bwMode="auto">
          <a:xfrm>
            <a:off x="5394960" y="4846320"/>
            <a:ext cx="1508759" cy="279400"/>
          </a:xfrm>
          <a:prstGeom prst="rect">
            <a:avLst/>
          </a:prstGeom>
          <a:solidFill>
            <a:srgbClr val="0F1117"/>
          </a:solidFill>
          <a:ln w="12700">
            <a:solidFill>
              <a:srgbClr val="8B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3885404" name="TextBox 17"/>
          <p:cNvSpPr txBox="1"/>
          <p:nvPr/>
        </p:nvSpPr>
        <p:spPr bwMode="auto">
          <a:xfrm>
            <a:off x="5445760" y="4864607"/>
            <a:ext cx="1407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8B8FA8"/>
                </a:solidFill>
                <a:latin typeface="Calibri"/>
              </a:rPr>
              <a:t>Social Identity Theory</a:t>
            </a:r>
            <a:endParaRPr/>
          </a:p>
        </p:txBody>
      </p:sp>
      <p:sp>
        <p:nvSpPr>
          <p:cNvPr id="1350981576" name="Rectangle 18"/>
          <p:cNvSpPr/>
          <p:nvPr/>
        </p:nvSpPr>
        <p:spPr bwMode="auto">
          <a:xfrm>
            <a:off x="6979920" y="4846320"/>
            <a:ext cx="1508759" cy="279400"/>
          </a:xfrm>
          <a:prstGeom prst="rect">
            <a:avLst/>
          </a:prstGeom>
          <a:solidFill>
            <a:srgbClr val="0F1117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7540080" name="TextBox 19"/>
          <p:cNvSpPr txBox="1"/>
          <p:nvPr/>
        </p:nvSpPr>
        <p:spPr bwMode="auto">
          <a:xfrm>
            <a:off x="7030720" y="4864607"/>
            <a:ext cx="1407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6C63FF"/>
                </a:solidFill>
                <a:latin typeface="Calibri"/>
              </a:rPr>
              <a:t>LinearSVC · F1=0.990</a:t>
            </a:r>
            <a:endParaRPr/>
          </a:p>
        </p:txBody>
      </p:sp>
      <p:sp>
        <p:nvSpPr>
          <p:cNvPr id="1454987930" name="Rectangle 20"/>
          <p:cNvSpPr/>
          <p:nvPr/>
        </p:nvSpPr>
        <p:spPr bwMode="auto">
          <a:xfrm>
            <a:off x="8564880" y="4846320"/>
            <a:ext cx="1508759" cy="279400"/>
          </a:xfrm>
          <a:prstGeom prst="rect">
            <a:avLst/>
          </a:prstGeom>
          <a:solidFill>
            <a:srgbClr val="0F1117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065177" name="TextBox 21"/>
          <p:cNvSpPr txBox="1"/>
          <p:nvPr/>
        </p:nvSpPr>
        <p:spPr bwMode="auto">
          <a:xfrm>
            <a:off x="8615680" y="4864607"/>
            <a:ext cx="1407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FF6B6B"/>
                </a:solidFill>
                <a:latin typeface="Calibri"/>
              </a:rPr>
              <a:t>Temporal event study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179895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6780409" name="TextBox 2"/>
          <p:cNvSpPr txBox="1"/>
          <p:nvPr/>
        </p:nvSpPr>
        <p:spPr bwMode="auto">
          <a:xfrm>
            <a:off x="11091671" y="126999"/>
            <a:ext cx="1006560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2 / </a:t>
            </a:r>
            <a:r>
              <a:rPr lang="fr-FR" sz="900" b="0" i="0">
                <a:solidFill>
                  <a:srgbClr val="8B8FA8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102686859" name="TextBox 3"/>
          <p:cNvSpPr txBox="1"/>
          <p:nvPr/>
        </p:nvSpPr>
        <p:spPr bwMode="auto">
          <a:xfrm>
            <a:off x="548640" y="365760"/>
            <a:ext cx="8229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6C63FF"/>
                </a:solidFill>
                <a:latin typeface="Calibri"/>
              </a:rPr>
              <a:t>RESEARCH FRAMING</a:t>
            </a:r>
            <a:endParaRPr/>
          </a:p>
        </p:txBody>
      </p:sp>
      <p:sp>
        <p:nvSpPr>
          <p:cNvPr id="80202326" name="TextBox 4"/>
          <p:cNvSpPr txBox="1"/>
          <p:nvPr/>
        </p:nvSpPr>
        <p:spPr bwMode="auto">
          <a:xfrm>
            <a:off x="548640" y="658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E8EAF0"/>
                </a:solidFill>
                <a:latin typeface="Calibri"/>
              </a:rPr>
              <a:t>Aim &amp; Objectives</a:t>
            </a:r>
            <a:endParaRPr/>
          </a:p>
        </p:txBody>
      </p:sp>
      <p:sp>
        <p:nvSpPr>
          <p:cNvPr id="583964292" name="Rectangle 5"/>
          <p:cNvSpPr/>
          <p:nvPr/>
        </p:nvSpPr>
        <p:spPr bwMode="auto">
          <a:xfrm>
            <a:off x="502920" y="1325880"/>
            <a:ext cx="5029200" cy="512064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877960" name="TextBox 6"/>
          <p:cNvSpPr txBox="1"/>
          <p:nvPr/>
        </p:nvSpPr>
        <p:spPr bwMode="auto">
          <a:xfrm>
            <a:off x="640080" y="1417320"/>
            <a:ext cx="475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0">
                <a:solidFill>
                  <a:srgbClr val="00C9A7"/>
                </a:solidFill>
                <a:latin typeface="Calibri"/>
              </a:rPr>
              <a:t>AIM</a:t>
            </a:r>
            <a:endParaRPr/>
          </a:p>
        </p:txBody>
      </p:sp>
      <p:sp>
        <p:nvSpPr>
          <p:cNvPr id="1867123845" name="TextBox 7"/>
          <p:cNvSpPr txBox="1"/>
          <p:nvPr/>
        </p:nvSpPr>
        <p:spPr bwMode="auto">
          <a:xfrm>
            <a:off x="640080" y="1737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8B8FA8"/>
                </a:solidFill>
                <a:latin typeface="Calibri"/>
              </a:rPr>
              <a:t>Detect and measure "othering" language — the rhetorical move of framing an out-group as threatening against a cohesive "us" — in immigration-related discourse across four social media platforms, using a modular, reproducible NLP pipeline.</a:t>
            </a:r>
            <a:endParaRPr/>
          </a:p>
        </p:txBody>
      </p:sp>
      <p:sp>
        <p:nvSpPr>
          <p:cNvPr id="1421777041" name="Rectangle 10"/>
          <p:cNvSpPr/>
          <p:nvPr/>
        </p:nvSpPr>
        <p:spPr bwMode="auto">
          <a:xfrm>
            <a:off x="502920" y="4572000"/>
            <a:ext cx="5029200" cy="1463040"/>
          </a:xfrm>
          <a:prstGeom prst="rect">
            <a:avLst/>
          </a:prstGeom>
          <a:solidFill>
            <a:srgbClr val="12101E"/>
          </a:solidFill>
          <a:ln w="12700">
            <a:solidFill>
              <a:srgbClr val="3A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741132" name="TextBox 11"/>
          <p:cNvSpPr txBox="1"/>
          <p:nvPr/>
        </p:nvSpPr>
        <p:spPr bwMode="auto">
          <a:xfrm>
            <a:off x="640080" y="4681728"/>
            <a:ext cx="47548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0">
                <a:solidFill>
                  <a:srgbClr val="6C63FF"/>
                </a:solidFill>
                <a:latin typeface="Calibri"/>
              </a:rPr>
              <a:t>DEFINITION</a:t>
            </a:r>
            <a:endParaRPr/>
          </a:p>
        </p:txBody>
      </p:sp>
      <p:sp>
        <p:nvSpPr>
          <p:cNvPr id="2027595352" name="TextBox 12"/>
          <p:cNvSpPr txBox="1"/>
          <p:nvPr/>
        </p:nvSpPr>
        <p:spPr bwMode="auto">
          <a:xfrm>
            <a:off x="640080" y="4919471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1">
                <a:solidFill>
                  <a:srgbClr val="8B8FA8"/>
                </a:solidFill>
                <a:latin typeface="Calibri"/>
              </a:rPr>
              <a:t>"Othering" — constructing a threatening or alien "them" in contrast to a cohesive "us", legitimising exclusion. — Tajfel &amp; Turner (1979); van Dijk (1993)</a:t>
            </a:r>
            <a:endParaRPr/>
          </a:p>
        </p:txBody>
      </p:sp>
      <p:sp>
        <p:nvSpPr>
          <p:cNvPr id="903269950" name="TextBox 13"/>
          <p:cNvSpPr txBox="1"/>
          <p:nvPr/>
        </p:nvSpPr>
        <p:spPr bwMode="auto">
          <a:xfrm>
            <a:off x="5852160" y="1325880"/>
            <a:ext cx="177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1624020555" name="TextBox 14"/>
          <p:cNvSpPr txBox="1"/>
          <p:nvPr/>
        </p:nvSpPr>
        <p:spPr bwMode="auto">
          <a:xfrm>
            <a:off x="6055360" y="1325880"/>
            <a:ext cx="574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100" b="1">
                <a:solidFill>
                  <a:srgbClr val="E8EAF0"/>
                </a:solidFill>
                <a:latin typeface="Calibri"/>
              </a:rPr>
              <a:t>Measure prevalence</a:t>
            </a:r>
            <a:r>
              <a:rPr sz="1100" b="0">
                <a:solidFill>
                  <a:srgbClr val="8B8FA8"/>
                </a:solidFill>
                <a:latin typeface="Calibri"/>
              </a:rPr>
              <a:t> of othering language across Reddit, Twitter, TikTok &amp; Instagram</a:t>
            </a:r>
            <a:endParaRPr/>
          </a:p>
        </p:txBody>
      </p:sp>
      <p:sp>
        <p:nvSpPr>
          <p:cNvPr id="456020443" name="TextBox 15"/>
          <p:cNvSpPr txBox="1"/>
          <p:nvPr/>
        </p:nvSpPr>
        <p:spPr bwMode="auto">
          <a:xfrm>
            <a:off x="5852160" y="2011680"/>
            <a:ext cx="177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1210319445" name="TextBox 16"/>
          <p:cNvSpPr txBox="1"/>
          <p:nvPr/>
        </p:nvSpPr>
        <p:spPr bwMode="auto">
          <a:xfrm>
            <a:off x="6055360" y="2011680"/>
            <a:ext cx="574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100" b="1">
                <a:solidFill>
                  <a:srgbClr val="E8EAF0"/>
                </a:solidFill>
                <a:latin typeface="Calibri"/>
              </a:rPr>
              <a:t>Test pronoun structure</a:t>
            </a:r>
            <a:r>
              <a:rPr sz="1100" b="0">
                <a:solidFill>
                  <a:srgbClr val="8B8FA8"/>
                </a:solidFill>
                <a:latin typeface="Calibri"/>
              </a:rPr>
              <a:t> (we / them markers) as predictor of othering intent</a:t>
            </a:r>
            <a:endParaRPr/>
          </a:p>
        </p:txBody>
      </p:sp>
      <p:sp>
        <p:nvSpPr>
          <p:cNvPr id="1514735280" name="TextBox 17"/>
          <p:cNvSpPr txBox="1"/>
          <p:nvPr/>
        </p:nvSpPr>
        <p:spPr bwMode="auto">
          <a:xfrm>
            <a:off x="5852160" y="2697480"/>
            <a:ext cx="177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1507494316" name="TextBox 18"/>
          <p:cNvSpPr txBox="1"/>
          <p:nvPr/>
        </p:nvSpPr>
        <p:spPr bwMode="auto">
          <a:xfrm>
            <a:off x="6055360" y="2697480"/>
            <a:ext cx="574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100" b="1">
                <a:solidFill>
                  <a:srgbClr val="E8EAF0"/>
                </a:solidFill>
                <a:latin typeface="Calibri"/>
              </a:rPr>
              <a:t>Compare toxicity, emotion,</a:t>
            </a:r>
            <a:r>
              <a:rPr sz="1100" b="0">
                <a:solidFill>
                  <a:srgbClr val="8B8FA8"/>
                </a:solidFill>
                <a:latin typeface="Calibri"/>
              </a:rPr>
              <a:t> and topic profiles across platforms and subreddits</a:t>
            </a:r>
            <a:endParaRPr/>
          </a:p>
        </p:txBody>
      </p:sp>
      <p:sp>
        <p:nvSpPr>
          <p:cNvPr id="591530347" name="TextBox 19"/>
          <p:cNvSpPr txBox="1"/>
          <p:nvPr/>
        </p:nvSpPr>
        <p:spPr bwMode="auto">
          <a:xfrm>
            <a:off x="5852160" y="3383280"/>
            <a:ext cx="177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716892328" name="TextBox 20"/>
          <p:cNvSpPr txBox="1"/>
          <p:nvPr/>
        </p:nvSpPr>
        <p:spPr bwMode="auto">
          <a:xfrm>
            <a:off x="6055360" y="3383280"/>
            <a:ext cx="574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100" b="1">
                <a:solidFill>
                  <a:srgbClr val="E8EAF0"/>
                </a:solidFill>
                <a:latin typeface="Calibri"/>
              </a:rPr>
              <a:t>Validate supervised classifier</a:t>
            </a:r>
            <a:r>
              <a:rPr sz="1100" b="0">
                <a:solidFill>
                  <a:srgbClr val="8B8FA8"/>
                </a:solidFill>
                <a:latin typeface="Calibri"/>
              </a:rPr>
              <a:t> (LinearSVC) that generalises beyond dictionary patterns</a:t>
            </a:r>
            <a:endParaRPr/>
          </a:p>
        </p:txBody>
      </p:sp>
      <p:sp>
        <p:nvSpPr>
          <p:cNvPr id="557248543" name="TextBox 21"/>
          <p:cNvSpPr txBox="1"/>
          <p:nvPr/>
        </p:nvSpPr>
        <p:spPr bwMode="auto">
          <a:xfrm>
            <a:off x="5852160" y="4069080"/>
            <a:ext cx="177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513565111" name="TextBox 22"/>
          <p:cNvSpPr txBox="1"/>
          <p:nvPr/>
        </p:nvSpPr>
        <p:spPr bwMode="auto">
          <a:xfrm>
            <a:off x="6055360" y="4069080"/>
            <a:ext cx="574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100" b="1">
                <a:solidFill>
                  <a:srgbClr val="E8EAF0"/>
                </a:solidFill>
                <a:latin typeface="Calibri"/>
              </a:rPr>
              <a:t>Track discourse evolution</a:t>
            </a:r>
            <a:r>
              <a:rPr sz="1100" b="0">
                <a:solidFill>
                  <a:srgbClr val="8B8FA8"/>
                </a:solidFill>
                <a:latin typeface="Calibri"/>
              </a:rPr>
              <a:t> over time (2020–2023) via event-aligned temporal analysis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510136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8886083" name="TextBox 2"/>
          <p:cNvSpPr txBox="1"/>
          <p:nvPr/>
        </p:nvSpPr>
        <p:spPr bwMode="auto">
          <a:xfrm>
            <a:off x="11091671" y="126999"/>
            <a:ext cx="1006560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3 / </a:t>
            </a:r>
            <a:r>
              <a:rPr lang="fr-FR" sz="900" b="0" i="0">
                <a:solidFill>
                  <a:srgbClr val="8B8FA8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1638766764" name="TextBox 3"/>
          <p:cNvSpPr txBox="1"/>
          <p:nvPr/>
        </p:nvSpPr>
        <p:spPr bwMode="auto">
          <a:xfrm>
            <a:off x="548640" y="365760"/>
            <a:ext cx="8229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6C63FF"/>
                </a:solidFill>
                <a:latin typeface="Calibri"/>
              </a:rPr>
              <a:t>METHODOLOGY — DATA</a:t>
            </a:r>
            <a:endParaRPr/>
          </a:p>
        </p:txBody>
      </p:sp>
      <p:sp>
        <p:nvSpPr>
          <p:cNvPr id="657293162" name="TextBox 4"/>
          <p:cNvSpPr txBox="1"/>
          <p:nvPr/>
        </p:nvSpPr>
        <p:spPr bwMode="auto">
          <a:xfrm>
            <a:off x="548640" y="658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E8EAF0"/>
                </a:solidFill>
                <a:latin typeface="Calibri"/>
              </a:rPr>
              <a:t>Datasets</a:t>
            </a:r>
            <a:endParaRPr/>
          </a:p>
        </p:txBody>
      </p:sp>
      <p:sp>
        <p:nvSpPr>
          <p:cNvPr id="1404677279" name="Rectangle 5"/>
          <p:cNvSpPr/>
          <p:nvPr/>
        </p:nvSpPr>
        <p:spPr bwMode="auto">
          <a:xfrm>
            <a:off x="502920" y="1298448"/>
            <a:ext cx="5943600" cy="2926080"/>
          </a:xfrm>
          <a:prstGeom prst="rect">
            <a:avLst/>
          </a:prstGeom>
          <a:solidFill>
            <a:srgbClr val="0F1117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0791544" name="TextBox 6"/>
          <p:cNvSpPr txBox="1"/>
          <p:nvPr/>
        </p:nvSpPr>
        <p:spPr bwMode="auto">
          <a:xfrm>
            <a:off x="640080" y="1389888"/>
            <a:ext cx="5669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0">
                <a:solidFill>
                  <a:srgbClr val="6C63FF"/>
                </a:solidFill>
                <a:latin typeface="Calibri"/>
              </a:rPr>
              <a:t>PLATFORM CORPORA — 26,465 POSTS TOTAL</a:t>
            </a:r>
            <a:endParaRPr/>
          </a:p>
        </p:txBody>
      </p:sp>
      <p:sp>
        <p:nvSpPr>
          <p:cNvPr id="339767731" name="TextBox 7"/>
          <p:cNvSpPr txBox="1"/>
          <p:nvPr/>
        </p:nvSpPr>
        <p:spPr bwMode="auto">
          <a:xfrm>
            <a:off x="704088" y="17353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8B8FA8"/>
                </a:solidFill>
                <a:latin typeface="Calibri"/>
              </a:rPr>
              <a:t>Platform</a:t>
            </a:r>
            <a:endParaRPr/>
          </a:p>
        </p:txBody>
      </p:sp>
      <p:sp>
        <p:nvSpPr>
          <p:cNvPr id="1146684984" name="TextBox 8"/>
          <p:cNvSpPr txBox="1"/>
          <p:nvPr/>
        </p:nvSpPr>
        <p:spPr bwMode="auto">
          <a:xfrm>
            <a:off x="2258568" y="17353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8B8FA8"/>
                </a:solidFill>
                <a:latin typeface="Calibri"/>
              </a:rPr>
              <a:t>Posts</a:t>
            </a:r>
            <a:endParaRPr/>
          </a:p>
        </p:txBody>
      </p:sp>
      <p:sp>
        <p:nvSpPr>
          <p:cNvPr id="269558850" name="TextBox 9"/>
          <p:cNvSpPr txBox="1"/>
          <p:nvPr/>
        </p:nvSpPr>
        <p:spPr bwMode="auto">
          <a:xfrm>
            <a:off x="2990088" y="17353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8B8FA8"/>
                </a:solidFill>
                <a:latin typeface="Calibri"/>
              </a:rPr>
              <a:t>Period</a:t>
            </a:r>
            <a:endParaRPr/>
          </a:p>
        </p:txBody>
      </p:sp>
      <p:sp>
        <p:nvSpPr>
          <p:cNvPr id="589453038" name="TextBox 10"/>
          <p:cNvSpPr txBox="1"/>
          <p:nvPr/>
        </p:nvSpPr>
        <p:spPr bwMode="auto">
          <a:xfrm>
            <a:off x="3995928" y="17353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8B8FA8"/>
                </a:solidFill>
                <a:latin typeface="Calibri"/>
              </a:rPr>
              <a:t>Source</a:t>
            </a:r>
            <a:endParaRPr/>
          </a:p>
        </p:txBody>
      </p:sp>
      <p:sp>
        <p:nvSpPr>
          <p:cNvPr id="770022954" name="Rectangle 11"/>
          <p:cNvSpPr/>
          <p:nvPr/>
        </p:nvSpPr>
        <p:spPr bwMode="auto">
          <a:xfrm>
            <a:off x="594360" y="1963928"/>
            <a:ext cx="576072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462094" name="Rectangle 12"/>
          <p:cNvSpPr/>
          <p:nvPr/>
        </p:nvSpPr>
        <p:spPr bwMode="auto">
          <a:xfrm>
            <a:off x="594360" y="1989328"/>
            <a:ext cx="5760720" cy="254000"/>
          </a:xfrm>
          <a:prstGeom prst="rect">
            <a:avLst/>
          </a:prstGeom>
          <a:solidFill>
            <a:srgbClr val="14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9705397" name="TextBox 13"/>
          <p:cNvSpPr txBox="1"/>
          <p:nvPr/>
        </p:nvSpPr>
        <p:spPr bwMode="auto">
          <a:xfrm>
            <a:off x="704088" y="20147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FF6B6B"/>
                </a:solidFill>
                <a:latin typeface="Calibri"/>
              </a:rPr>
              <a:t>Reddit</a:t>
            </a:r>
            <a:endParaRPr/>
          </a:p>
        </p:txBody>
      </p:sp>
      <p:sp>
        <p:nvSpPr>
          <p:cNvPr id="1695305198" name="TextBox 14"/>
          <p:cNvSpPr txBox="1"/>
          <p:nvPr/>
        </p:nvSpPr>
        <p:spPr bwMode="auto">
          <a:xfrm>
            <a:off x="2258568" y="20147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8EAF0"/>
                </a:solidFill>
                <a:latin typeface="Calibri"/>
              </a:rPr>
              <a:t>11,247</a:t>
            </a:r>
            <a:endParaRPr/>
          </a:p>
        </p:txBody>
      </p:sp>
      <p:sp>
        <p:nvSpPr>
          <p:cNvPr id="1699961502" name="TextBox 15"/>
          <p:cNvSpPr txBox="1"/>
          <p:nvPr/>
        </p:nvSpPr>
        <p:spPr bwMode="auto">
          <a:xfrm>
            <a:off x="2990088" y="20147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2020–2023</a:t>
            </a:r>
            <a:endParaRPr/>
          </a:p>
        </p:txBody>
      </p:sp>
      <p:sp>
        <p:nvSpPr>
          <p:cNvPr id="157072180" name="TextBox 16"/>
          <p:cNvSpPr txBox="1"/>
          <p:nvPr/>
        </p:nvSpPr>
        <p:spPr bwMode="auto">
          <a:xfrm>
            <a:off x="3995928" y="20147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Arctic Shift API · 5 subreddits</a:t>
            </a:r>
            <a:endParaRPr/>
          </a:p>
        </p:txBody>
      </p:sp>
      <p:sp>
        <p:nvSpPr>
          <p:cNvPr id="1844153191" name="Rectangle 17"/>
          <p:cNvSpPr/>
          <p:nvPr/>
        </p:nvSpPr>
        <p:spPr bwMode="auto">
          <a:xfrm>
            <a:off x="594360" y="2243328"/>
            <a:ext cx="576072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9906022" name="Rectangle 18"/>
          <p:cNvSpPr/>
          <p:nvPr/>
        </p:nvSpPr>
        <p:spPr bwMode="auto">
          <a:xfrm>
            <a:off x="594360" y="2268728"/>
            <a:ext cx="5760720" cy="254000"/>
          </a:xfrm>
          <a:prstGeom prst="rect">
            <a:avLst/>
          </a:prstGeom>
          <a:solidFill>
            <a:srgbClr val="14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59068" name="TextBox 19"/>
          <p:cNvSpPr txBox="1"/>
          <p:nvPr/>
        </p:nvSpPr>
        <p:spPr bwMode="auto">
          <a:xfrm>
            <a:off x="704088" y="22941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1D9BF0"/>
                </a:solidFill>
                <a:latin typeface="Calibri"/>
              </a:rPr>
              <a:t>Twitter</a:t>
            </a:r>
            <a:endParaRPr/>
          </a:p>
        </p:txBody>
      </p:sp>
      <p:sp>
        <p:nvSpPr>
          <p:cNvPr id="1750546430" name="TextBox 20"/>
          <p:cNvSpPr txBox="1"/>
          <p:nvPr/>
        </p:nvSpPr>
        <p:spPr bwMode="auto">
          <a:xfrm>
            <a:off x="2258568" y="22941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8EAF0"/>
                </a:solidFill>
                <a:latin typeface="Calibri"/>
              </a:rPr>
              <a:t>10,000</a:t>
            </a:r>
            <a:endParaRPr/>
          </a:p>
        </p:txBody>
      </p:sp>
      <p:sp>
        <p:nvSpPr>
          <p:cNvPr id="1425948277" name="TextBox 21"/>
          <p:cNvSpPr txBox="1"/>
          <p:nvPr/>
        </p:nvSpPr>
        <p:spPr bwMode="auto">
          <a:xfrm>
            <a:off x="2990088" y="2294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2016–2021</a:t>
            </a:r>
            <a:endParaRPr/>
          </a:p>
        </p:txBody>
      </p:sp>
      <p:sp>
        <p:nvSpPr>
          <p:cNvPr id="743818284" name="TextBox 22"/>
          <p:cNvSpPr txBox="1"/>
          <p:nvPr/>
        </p:nvSpPr>
        <p:spPr bwMode="auto">
          <a:xfrm>
            <a:off x="3995928" y="2294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Immigration keywords</a:t>
            </a:r>
            <a:endParaRPr/>
          </a:p>
        </p:txBody>
      </p:sp>
      <p:sp>
        <p:nvSpPr>
          <p:cNvPr id="1119364469" name="Rectangle 23"/>
          <p:cNvSpPr/>
          <p:nvPr/>
        </p:nvSpPr>
        <p:spPr bwMode="auto">
          <a:xfrm>
            <a:off x="594360" y="2522728"/>
            <a:ext cx="576072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3789687" name="Rectangle 24"/>
          <p:cNvSpPr/>
          <p:nvPr/>
        </p:nvSpPr>
        <p:spPr bwMode="auto">
          <a:xfrm>
            <a:off x="594360" y="2548128"/>
            <a:ext cx="5760720" cy="254000"/>
          </a:xfrm>
          <a:prstGeom prst="rect">
            <a:avLst/>
          </a:prstGeom>
          <a:solidFill>
            <a:srgbClr val="14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6411945" name="TextBox 25"/>
          <p:cNvSpPr txBox="1"/>
          <p:nvPr/>
        </p:nvSpPr>
        <p:spPr bwMode="auto">
          <a:xfrm>
            <a:off x="704088" y="25735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E1306C"/>
                </a:solidFill>
                <a:latin typeface="Calibri"/>
              </a:rPr>
              <a:t>Instagram</a:t>
            </a:r>
            <a:endParaRPr/>
          </a:p>
        </p:txBody>
      </p:sp>
      <p:sp>
        <p:nvSpPr>
          <p:cNvPr id="796014542" name="TextBox 26"/>
          <p:cNvSpPr txBox="1"/>
          <p:nvPr/>
        </p:nvSpPr>
        <p:spPr bwMode="auto">
          <a:xfrm>
            <a:off x="2258568" y="2573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8EAF0"/>
                </a:solidFill>
                <a:latin typeface="Calibri"/>
              </a:rPr>
              <a:t>4,018</a:t>
            </a:r>
            <a:endParaRPr/>
          </a:p>
        </p:txBody>
      </p:sp>
      <p:sp>
        <p:nvSpPr>
          <p:cNvPr id="1394718560" name="TextBox 27"/>
          <p:cNvSpPr txBox="1"/>
          <p:nvPr/>
        </p:nvSpPr>
        <p:spPr bwMode="auto">
          <a:xfrm>
            <a:off x="2990088" y="25735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2020–2022</a:t>
            </a:r>
            <a:endParaRPr/>
          </a:p>
        </p:txBody>
      </p:sp>
      <p:sp>
        <p:nvSpPr>
          <p:cNvPr id="221584401" name="TextBox 28"/>
          <p:cNvSpPr txBox="1"/>
          <p:nvPr/>
        </p:nvSpPr>
        <p:spPr bwMode="auto">
          <a:xfrm>
            <a:off x="3995928" y="2573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Immigration hashtags</a:t>
            </a:r>
            <a:endParaRPr/>
          </a:p>
        </p:txBody>
      </p:sp>
      <p:sp>
        <p:nvSpPr>
          <p:cNvPr id="1978494027" name="Rectangle 29"/>
          <p:cNvSpPr/>
          <p:nvPr/>
        </p:nvSpPr>
        <p:spPr bwMode="auto">
          <a:xfrm>
            <a:off x="594360" y="2802128"/>
            <a:ext cx="576072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4112845" name="Rectangle 30"/>
          <p:cNvSpPr/>
          <p:nvPr/>
        </p:nvSpPr>
        <p:spPr bwMode="auto">
          <a:xfrm>
            <a:off x="594360" y="2827528"/>
            <a:ext cx="5760720" cy="254000"/>
          </a:xfrm>
          <a:prstGeom prst="rect">
            <a:avLst/>
          </a:prstGeom>
          <a:solidFill>
            <a:srgbClr val="14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5386526" name="TextBox 31"/>
          <p:cNvSpPr txBox="1"/>
          <p:nvPr/>
        </p:nvSpPr>
        <p:spPr bwMode="auto">
          <a:xfrm>
            <a:off x="704088" y="28529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FF0050"/>
                </a:solidFill>
                <a:latin typeface="Calibri"/>
              </a:rPr>
              <a:t>TikTok</a:t>
            </a:r>
            <a:endParaRPr/>
          </a:p>
        </p:txBody>
      </p:sp>
      <p:sp>
        <p:nvSpPr>
          <p:cNvPr id="1122293940" name="TextBox 32"/>
          <p:cNvSpPr txBox="1"/>
          <p:nvPr/>
        </p:nvSpPr>
        <p:spPr bwMode="auto">
          <a:xfrm>
            <a:off x="2258568" y="28529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8EAF0"/>
                </a:solidFill>
                <a:latin typeface="Calibri"/>
              </a:rPr>
              <a:t>1,200</a:t>
            </a:r>
            <a:endParaRPr/>
          </a:p>
        </p:txBody>
      </p:sp>
      <p:sp>
        <p:nvSpPr>
          <p:cNvPr id="1104608042" name="TextBox 33"/>
          <p:cNvSpPr txBox="1"/>
          <p:nvPr/>
        </p:nvSpPr>
        <p:spPr bwMode="auto">
          <a:xfrm>
            <a:off x="2990088" y="28529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2021–2023</a:t>
            </a:r>
            <a:endParaRPr/>
          </a:p>
        </p:txBody>
      </p:sp>
      <p:sp>
        <p:nvSpPr>
          <p:cNvPr id="280445850" name="TextBox 34"/>
          <p:cNvSpPr txBox="1"/>
          <p:nvPr/>
        </p:nvSpPr>
        <p:spPr bwMode="auto">
          <a:xfrm>
            <a:off x="3995928" y="28529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Immigration content (+ 19,382 trans.)</a:t>
            </a:r>
            <a:endParaRPr/>
          </a:p>
        </p:txBody>
      </p:sp>
      <p:sp>
        <p:nvSpPr>
          <p:cNvPr id="1099218423" name="Rectangle 35"/>
          <p:cNvSpPr/>
          <p:nvPr/>
        </p:nvSpPr>
        <p:spPr bwMode="auto">
          <a:xfrm>
            <a:off x="594360" y="3081528"/>
            <a:ext cx="576072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659076" name="TextBox 36"/>
          <p:cNvSpPr txBox="1"/>
          <p:nvPr/>
        </p:nvSpPr>
        <p:spPr bwMode="auto">
          <a:xfrm>
            <a:off x="640080" y="3904488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1">
                <a:solidFill>
                  <a:srgbClr val="8B8FA8"/>
                </a:solidFill>
                <a:latin typeface="Calibri"/>
              </a:rPr>
              <a:t>All datasets classified with ML othering model (LinearSVC) + Detoxify toxicity.</a:t>
            </a:r>
            <a:endParaRPr/>
          </a:p>
        </p:txBody>
      </p:sp>
      <p:sp>
        <p:nvSpPr>
          <p:cNvPr id="585622319" name="Rectangle 37"/>
          <p:cNvSpPr/>
          <p:nvPr/>
        </p:nvSpPr>
        <p:spPr bwMode="auto">
          <a:xfrm>
            <a:off x="502920" y="4361688"/>
            <a:ext cx="5943600" cy="329184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7666033" name="TextBox 38"/>
          <p:cNvSpPr txBox="1"/>
          <p:nvPr/>
        </p:nvSpPr>
        <p:spPr bwMode="auto">
          <a:xfrm>
            <a:off x="640080" y="4453128"/>
            <a:ext cx="5669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0">
                <a:solidFill>
                  <a:srgbClr val="00C9A7"/>
                </a:solidFill>
                <a:latin typeface="Calibri"/>
              </a:rPr>
              <a:t>REDDIT — POST DISTRIBUTION BY SUBREDDIT</a:t>
            </a:r>
            <a:endParaRPr/>
          </a:p>
        </p:txBody>
      </p:sp>
      <p:sp>
        <p:nvSpPr>
          <p:cNvPr id="988550166" name="TextBox 39"/>
          <p:cNvSpPr txBox="1"/>
          <p:nvPr/>
        </p:nvSpPr>
        <p:spPr bwMode="auto">
          <a:xfrm>
            <a:off x="594360" y="4818888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r/politics</a:t>
            </a:r>
            <a:endParaRPr/>
          </a:p>
        </p:txBody>
      </p:sp>
      <p:sp>
        <p:nvSpPr>
          <p:cNvPr id="1218277589" name="Rectangle 40"/>
          <p:cNvSpPr/>
          <p:nvPr/>
        </p:nvSpPr>
        <p:spPr bwMode="auto">
          <a:xfrm>
            <a:off x="1676400" y="4844288"/>
            <a:ext cx="425196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5035369" name="Rectangle 41"/>
          <p:cNvSpPr/>
          <p:nvPr/>
        </p:nvSpPr>
        <p:spPr bwMode="auto">
          <a:xfrm>
            <a:off x="1676400" y="4844288"/>
            <a:ext cx="4251960" cy="127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2626221" name="TextBox 42"/>
          <p:cNvSpPr txBox="1"/>
          <p:nvPr/>
        </p:nvSpPr>
        <p:spPr bwMode="auto">
          <a:xfrm>
            <a:off x="5979160" y="481888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2,250</a:t>
            </a:r>
            <a:endParaRPr/>
          </a:p>
        </p:txBody>
      </p:sp>
      <p:sp>
        <p:nvSpPr>
          <p:cNvPr id="2132896924" name="TextBox 43"/>
          <p:cNvSpPr txBox="1"/>
          <p:nvPr/>
        </p:nvSpPr>
        <p:spPr bwMode="auto">
          <a:xfrm>
            <a:off x="594360" y="5098288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r/worldnews</a:t>
            </a:r>
            <a:endParaRPr/>
          </a:p>
        </p:txBody>
      </p:sp>
      <p:sp>
        <p:nvSpPr>
          <p:cNvPr id="258404020" name="Rectangle 44"/>
          <p:cNvSpPr/>
          <p:nvPr/>
        </p:nvSpPr>
        <p:spPr bwMode="auto">
          <a:xfrm>
            <a:off x="1676400" y="5123688"/>
            <a:ext cx="425196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6177456" name="Rectangle 45"/>
          <p:cNvSpPr/>
          <p:nvPr/>
        </p:nvSpPr>
        <p:spPr bwMode="auto">
          <a:xfrm>
            <a:off x="1676400" y="5123688"/>
            <a:ext cx="4251960" cy="127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9942044" name="TextBox 46"/>
          <p:cNvSpPr txBox="1"/>
          <p:nvPr/>
        </p:nvSpPr>
        <p:spPr bwMode="auto">
          <a:xfrm>
            <a:off x="5979160" y="509828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2,250</a:t>
            </a:r>
            <a:endParaRPr/>
          </a:p>
        </p:txBody>
      </p:sp>
      <p:sp>
        <p:nvSpPr>
          <p:cNvPr id="1881826388" name="TextBox 47"/>
          <p:cNvSpPr txBox="1"/>
          <p:nvPr/>
        </p:nvSpPr>
        <p:spPr bwMode="auto">
          <a:xfrm>
            <a:off x="594360" y="5377688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r/ukpolitics</a:t>
            </a:r>
            <a:endParaRPr/>
          </a:p>
        </p:txBody>
      </p:sp>
      <p:sp>
        <p:nvSpPr>
          <p:cNvPr id="443876220" name="Rectangle 48"/>
          <p:cNvSpPr/>
          <p:nvPr/>
        </p:nvSpPr>
        <p:spPr bwMode="auto">
          <a:xfrm>
            <a:off x="1676400" y="5403087"/>
            <a:ext cx="425196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3630699" name="Rectangle 49"/>
          <p:cNvSpPr/>
          <p:nvPr/>
        </p:nvSpPr>
        <p:spPr bwMode="auto">
          <a:xfrm>
            <a:off x="1676400" y="5403087"/>
            <a:ext cx="4251960" cy="127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8776304" name="TextBox 50"/>
          <p:cNvSpPr txBox="1"/>
          <p:nvPr/>
        </p:nvSpPr>
        <p:spPr bwMode="auto">
          <a:xfrm>
            <a:off x="5979160" y="537768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2,250</a:t>
            </a:r>
            <a:endParaRPr/>
          </a:p>
        </p:txBody>
      </p:sp>
      <p:sp>
        <p:nvSpPr>
          <p:cNvPr id="819198900" name="TextBox 51"/>
          <p:cNvSpPr txBox="1"/>
          <p:nvPr/>
        </p:nvSpPr>
        <p:spPr bwMode="auto">
          <a:xfrm>
            <a:off x="594360" y="5657088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r/europe</a:t>
            </a:r>
            <a:endParaRPr/>
          </a:p>
        </p:txBody>
      </p:sp>
      <p:sp>
        <p:nvSpPr>
          <p:cNvPr id="1206975819" name="Rectangle 52"/>
          <p:cNvSpPr/>
          <p:nvPr/>
        </p:nvSpPr>
        <p:spPr bwMode="auto">
          <a:xfrm>
            <a:off x="1676400" y="5682488"/>
            <a:ext cx="425196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8791558" name="Rectangle 53"/>
          <p:cNvSpPr/>
          <p:nvPr/>
        </p:nvSpPr>
        <p:spPr bwMode="auto">
          <a:xfrm>
            <a:off x="1676400" y="5682488"/>
            <a:ext cx="4251960" cy="127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0761271" name="TextBox 54"/>
          <p:cNvSpPr txBox="1"/>
          <p:nvPr/>
        </p:nvSpPr>
        <p:spPr bwMode="auto">
          <a:xfrm>
            <a:off x="5979160" y="565708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2,250</a:t>
            </a:r>
            <a:endParaRPr/>
          </a:p>
        </p:txBody>
      </p:sp>
      <p:sp>
        <p:nvSpPr>
          <p:cNvPr id="463354568" name="TextBox 55"/>
          <p:cNvSpPr txBox="1"/>
          <p:nvPr/>
        </p:nvSpPr>
        <p:spPr bwMode="auto">
          <a:xfrm>
            <a:off x="594360" y="5936488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r/immigration</a:t>
            </a:r>
            <a:endParaRPr/>
          </a:p>
        </p:txBody>
      </p:sp>
      <p:sp>
        <p:nvSpPr>
          <p:cNvPr id="2082180124" name="Rectangle 56"/>
          <p:cNvSpPr/>
          <p:nvPr/>
        </p:nvSpPr>
        <p:spPr bwMode="auto">
          <a:xfrm>
            <a:off x="1676400" y="5961888"/>
            <a:ext cx="425196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2140374" name="Rectangle 57"/>
          <p:cNvSpPr/>
          <p:nvPr/>
        </p:nvSpPr>
        <p:spPr bwMode="auto">
          <a:xfrm>
            <a:off x="1676400" y="5961888"/>
            <a:ext cx="4246290" cy="127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4106204" name="TextBox 58"/>
          <p:cNvSpPr txBox="1"/>
          <p:nvPr/>
        </p:nvSpPr>
        <p:spPr bwMode="auto">
          <a:xfrm>
            <a:off x="5979160" y="593648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2,247</a:t>
            </a:r>
            <a:endParaRPr/>
          </a:p>
        </p:txBody>
      </p:sp>
      <p:sp>
        <p:nvSpPr>
          <p:cNvPr id="1856762748" name="TextBox 59"/>
          <p:cNvSpPr txBox="1"/>
          <p:nvPr/>
        </p:nvSpPr>
        <p:spPr bwMode="auto">
          <a:xfrm>
            <a:off x="640080" y="6967728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1">
                <a:solidFill>
                  <a:srgbClr val="8B8FA8"/>
                </a:solidFill>
                <a:latin typeface="Calibri"/>
              </a:rPr>
              <a:t>Event-targeted sampling: ±30 days around 45 immigration events (2020–2023)</a:t>
            </a:r>
            <a:endParaRPr/>
          </a:p>
        </p:txBody>
      </p:sp>
      <p:sp>
        <p:nvSpPr>
          <p:cNvPr id="870636150" name="Rectangle 60"/>
          <p:cNvSpPr/>
          <p:nvPr/>
        </p:nvSpPr>
        <p:spPr bwMode="auto">
          <a:xfrm>
            <a:off x="6720840" y="1298448"/>
            <a:ext cx="5120640" cy="260604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454423" name="TextBox 61"/>
          <p:cNvSpPr txBox="1"/>
          <p:nvPr/>
        </p:nvSpPr>
        <p:spPr bwMode="auto">
          <a:xfrm>
            <a:off x="6858000" y="1389888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0">
                <a:solidFill>
                  <a:srgbClr val="00C9A7"/>
                </a:solidFill>
                <a:latin typeface="Calibri"/>
              </a:rPr>
              <a:t>TRAINING CORPUS — 134,459 POSTS</a:t>
            </a:r>
            <a:endParaRPr/>
          </a:p>
        </p:txBody>
      </p:sp>
      <p:sp>
        <p:nvSpPr>
          <p:cNvPr id="1637099250" name="TextBox 62"/>
          <p:cNvSpPr txBox="1"/>
          <p:nvPr/>
        </p:nvSpPr>
        <p:spPr bwMode="auto">
          <a:xfrm>
            <a:off x="6939280" y="1709928"/>
            <a:ext cx="152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884178240" name="TextBox 63"/>
          <p:cNvSpPr txBox="1"/>
          <p:nvPr/>
        </p:nvSpPr>
        <p:spPr bwMode="auto">
          <a:xfrm>
            <a:off x="7117080" y="1709928"/>
            <a:ext cx="45567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133,170 annotated posts — Kennedy et al. (2020), UC Berkeley Measuring Hate Speech</a:t>
            </a:r>
            <a:endParaRPr/>
          </a:p>
        </p:txBody>
      </p:sp>
      <p:sp>
        <p:nvSpPr>
          <p:cNvPr id="1076553063" name="TextBox 64"/>
          <p:cNvSpPr txBox="1"/>
          <p:nvPr/>
        </p:nvSpPr>
        <p:spPr bwMode="auto">
          <a:xfrm>
            <a:off x="6939280" y="1989328"/>
            <a:ext cx="152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2010033900" name="TextBox 65"/>
          <p:cNvSpPr txBox="1"/>
          <p:nvPr/>
        </p:nvSpPr>
        <p:spPr bwMode="auto">
          <a:xfrm>
            <a:off x="7117080" y="1989328"/>
            <a:ext cx="45567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1,289 Reddit posts (mixed political &amp; immigration subreddits)</a:t>
            </a:r>
            <a:endParaRPr/>
          </a:p>
        </p:txBody>
      </p:sp>
      <p:sp>
        <p:nvSpPr>
          <p:cNvPr id="370391114" name="TextBox 66"/>
          <p:cNvSpPr txBox="1"/>
          <p:nvPr/>
        </p:nvSpPr>
        <p:spPr bwMode="auto">
          <a:xfrm>
            <a:off x="6939280" y="2268728"/>
            <a:ext cx="152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423939032" name="TextBox 67"/>
          <p:cNvSpPr txBox="1"/>
          <p:nvPr/>
        </p:nvSpPr>
        <p:spPr bwMode="auto">
          <a:xfrm>
            <a:off x="7117080" y="2268728"/>
            <a:ext cx="45567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Silver labels: rule-based othering detector used to generate training labels</a:t>
            </a:r>
            <a:endParaRPr/>
          </a:p>
        </p:txBody>
      </p:sp>
      <p:sp>
        <p:nvSpPr>
          <p:cNvPr id="194663846" name="TextBox 68"/>
          <p:cNvSpPr txBox="1"/>
          <p:nvPr/>
        </p:nvSpPr>
        <p:spPr bwMode="auto">
          <a:xfrm>
            <a:off x="6939280" y="2548128"/>
            <a:ext cx="152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1493870179" name="TextBox 69"/>
          <p:cNvSpPr txBox="1"/>
          <p:nvPr/>
        </p:nvSpPr>
        <p:spPr bwMode="auto">
          <a:xfrm>
            <a:off x="7117080" y="2548128"/>
            <a:ext cx="45567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80/20 train/test split — 107,567 train · 26,892 test</a:t>
            </a:r>
            <a:endParaRPr/>
          </a:p>
        </p:txBody>
      </p:sp>
      <p:sp>
        <p:nvSpPr>
          <p:cNvPr id="1583667314" name="Rectangle 70"/>
          <p:cNvSpPr/>
          <p:nvPr/>
        </p:nvSpPr>
        <p:spPr bwMode="auto">
          <a:xfrm>
            <a:off x="6720840" y="4041648"/>
            <a:ext cx="5120640" cy="361188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0642325" name="TextBox 71"/>
          <p:cNvSpPr txBox="1"/>
          <p:nvPr/>
        </p:nvSpPr>
        <p:spPr bwMode="auto">
          <a:xfrm>
            <a:off x="6858000" y="4133088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0">
                <a:solidFill>
                  <a:srgbClr val="00C9A7"/>
                </a:solidFill>
                <a:latin typeface="Calibri"/>
              </a:rPr>
              <a:t>PREPROCESSING</a:t>
            </a:r>
            <a:endParaRPr/>
          </a:p>
        </p:txBody>
      </p:sp>
      <p:sp>
        <p:nvSpPr>
          <p:cNvPr id="1718656573" name="TextBox 72"/>
          <p:cNvSpPr txBox="1"/>
          <p:nvPr/>
        </p:nvSpPr>
        <p:spPr bwMode="auto">
          <a:xfrm>
            <a:off x="6939280" y="4453128"/>
            <a:ext cx="152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67504396" name="TextBox 73"/>
          <p:cNvSpPr txBox="1"/>
          <p:nvPr/>
        </p:nvSpPr>
        <p:spPr bwMode="auto">
          <a:xfrm>
            <a:off x="7117080" y="4453128"/>
            <a:ext cx="45567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Lowercasing · URL &amp; @mention removal</a:t>
            </a:r>
            <a:endParaRPr/>
          </a:p>
        </p:txBody>
      </p:sp>
      <p:sp>
        <p:nvSpPr>
          <p:cNvPr id="2059175138" name="TextBox 74"/>
          <p:cNvSpPr txBox="1"/>
          <p:nvPr/>
        </p:nvSpPr>
        <p:spPr bwMode="auto">
          <a:xfrm>
            <a:off x="6939280" y="4732528"/>
            <a:ext cx="152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495695513" name="TextBox 75"/>
          <p:cNvSpPr txBox="1"/>
          <p:nvPr/>
        </p:nvSpPr>
        <p:spPr bwMode="auto">
          <a:xfrm>
            <a:off x="7117080" y="4732528"/>
            <a:ext cx="45567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Special-character normalisation, basic punctuation kept</a:t>
            </a:r>
            <a:endParaRPr/>
          </a:p>
        </p:txBody>
      </p:sp>
      <p:sp>
        <p:nvSpPr>
          <p:cNvPr id="1291692048" name="TextBox 76"/>
          <p:cNvSpPr txBox="1"/>
          <p:nvPr/>
        </p:nvSpPr>
        <p:spPr bwMode="auto">
          <a:xfrm>
            <a:off x="6939280" y="5011928"/>
            <a:ext cx="152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C63FF"/>
                </a:solidFill>
                <a:latin typeface="Calibri"/>
              </a:rPr>
              <a:t>▸</a:t>
            </a:r>
            <a:endParaRPr/>
          </a:p>
        </p:txBody>
      </p:sp>
      <p:sp>
        <p:nvSpPr>
          <p:cNvPr id="2065622864" name="TextBox 77"/>
          <p:cNvSpPr txBox="1"/>
          <p:nvPr/>
        </p:nvSpPr>
        <p:spPr bwMode="auto">
          <a:xfrm>
            <a:off x="7117079" y="5011927"/>
            <a:ext cx="4557839" cy="244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B8FA8"/>
                </a:solidFill>
                <a:latin typeface="Calibri"/>
              </a:rPr>
              <a:t>Posts &lt; 20 chars removed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325919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3726438" name="TextBox 2"/>
          <p:cNvSpPr txBox="1"/>
          <p:nvPr/>
        </p:nvSpPr>
        <p:spPr bwMode="auto">
          <a:xfrm>
            <a:off x="11091671" y="126999"/>
            <a:ext cx="1006560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4 / </a:t>
            </a:r>
            <a:r>
              <a:rPr lang="fr-FR" sz="900" b="0" i="0">
                <a:solidFill>
                  <a:srgbClr val="8B8FA8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628332650" name="TextBox 3"/>
          <p:cNvSpPr txBox="1"/>
          <p:nvPr/>
        </p:nvSpPr>
        <p:spPr bwMode="auto">
          <a:xfrm>
            <a:off x="548640" y="365760"/>
            <a:ext cx="8229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6C63FF"/>
                </a:solidFill>
                <a:latin typeface="Calibri"/>
              </a:rPr>
              <a:t>METHODOLOGY — PIPELINE</a:t>
            </a:r>
            <a:endParaRPr/>
          </a:p>
        </p:txBody>
      </p:sp>
      <p:sp>
        <p:nvSpPr>
          <p:cNvPr id="2060542959" name="TextBox 4"/>
          <p:cNvSpPr txBox="1"/>
          <p:nvPr/>
        </p:nvSpPr>
        <p:spPr bwMode="auto">
          <a:xfrm>
            <a:off x="548640" y="658368"/>
            <a:ext cx="10059119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fr-FR" sz="2200" b="1" i="0">
                <a:solidFill>
                  <a:srgbClr val="E8EAF0"/>
                </a:solidFill>
                <a:latin typeface="Calibri"/>
              </a:rPr>
              <a:t>5</a:t>
            </a:r>
            <a:r>
              <a:rPr sz="2200" b="1" i="0">
                <a:solidFill>
                  <a:srgbClr val="E8EAF0"/>
                </a:solidFill>
                <a:latin typeface="Calibri"/>
              </a:rPr>
              <a:t>-Step NLP Pipeline</a:t>
            </a:r>
            <a:endParaRPr/>
          </a:p>
        </p:txBody>
      </p:sp>
      <p:sp>
        <p:nvSpPr>
          <p:cNvPr id="1977370031" name="Rectangle 5"/>
          <p:cNvSpPr/>
          <p:nvPr/>
        </p:nvSpPr>
        <p:spPr bwMode="auto">
          <a:xfrm>
            <a:off x="502920" y="1325880"/>
            <a:ext cx="5577840" cy="160020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6857582" name="Oval 6"/>
          <p:cNvSpPr/>
          <p:nvPr/>
        </p:nvSpPr>
        <p:spPr bwMode="auto">
          <a:xfrm>
            <a:off x="640080" y="1463040"/>
            <a:ext cx="228600" cy="2286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00" b="1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1445764439" name="TextBox 7"/>
          <p:cNvSpPr txBox="1"/>
          <p:nvPr/>
        </p:nvSpPr>
        <p:spPr bwMode="auto">
          <a:xfrm>
            <a:off x="1005840" y="1435608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8EAF0"/>
                </a:solidFill>
                <a:latin typeface="Calibri"/>
              </a:rPr>
              <a:t>Pronoun tagging</a:t>
            </a:r>
            <a:endParaRPr/>
          </a:p>
        </p:txBody>
      </p:sp>
      <p:sp>
        <p:nvSpPr>
          <p:cNvPr id="1263156796" name="TextBox 8"/>
          <p:cNvSpPr txBox="1"/>
          <p:nvPr/>
        </p:nvSpPr>
        <p:spPr bwMode="auto">
          <a:xfrm>
            <a:off x="685800" y="178308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50" b="0" i="0">
                <a:solidFill>
                  <a:srgbClr val="8B8FA8"/>
                </a:solidFill>
                <a:latin typeface="Calibri"/>
              </a:rPr>
              <a:t>WE / THEM marker flags (binary + count + category: both / we_only / them_only / none). THEM list includes 'those people', 'people like them' for derogatory framing.</a:t>
            </a:r>
            <a:endParaRPr/>
          </a:p>
        </p:txBody>
      </p:sp>
      <p:sp>
        <p:nvSpPr>
          <p:cNvPr id="692754474" name="Rectangle 9"/>
          <p:cNvSpPr/>
          <p:nvPr/>
        </p:nvSpPr>
        <p:spPr bwMode="auto">
          <a:xfrm>
            <a:off x="502920" y="3063240"/>
            <a:ext cx="5577840" cy="160020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7899549" name="Oval 10"/>
          <p:cNvSpPr/>
          <p:nvPr/>
        </p:nvSpPr>
        <p:spPr bwMode="auto">
          <a:xfrm>
            <a:off x="640080" y="3200400"/>
            <a:ext cx="228600" cy="2286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00" b="1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149314681" name="TextBox 11"/>
          <p:cNvSpPr txBox="1"/>
          <p:nvPr/>
        </p:nvSpPr>
        <p:spPr bwMode="auto">
          <a:xfrm>
            <a:off x="1005840" y="3172968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8EAF0"/>
                </a:solidFill>
                <a:latin typeface="Calibri"/>
              </a:rPr>
              <a:t>Toxicity scoring</a:t>
            </a:r>
            <a:endParaRPr/>
          </a:p>
        </p:txBody>
      </p:sp>
      <p:sp>
        <p:nvSpPr>
          <p:cNvPr id="1133804766" name="TextBox 12"/>
          <p:cNvSpPr txBox="1"/>
          <p:nvPr/>
        </p:nvSpPr>
        <p:spPr bwMode="auto">
          <a:xfrm>
            <a:off x="685800" y="352044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50" b="0" i="0">
                <a:solidFill>
                  <a:srgbClr val="8B8FA8"/>
                </a:solidFill>
                <a:latin typeface="Calibri"/>
              </a:rPr>
              <a:t>Detoxify original model: toxicity, severe_toxicity, identity_attack, insult, threat (floats 0–1)</a:t>
            </a:r>
            <a:endParaRPr/>
          </a:p>
        </p:txBody>
      </p:sp>
      <p:sp>
        <p:nvSpPr>
          <p:cNvPr id="1340020596" name="Rectangle 13"/>
          <p:cNvSpPr/>
          <p:nvPr/>
        </p:nvSpPr>
        <p:spPr bwMode="auto">
          <a:xfrm>
            <a:off x="502920" y="4800600"/>
            <a:ext cx="5577840" cy="160020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1100202" name="Oval 14"/>
          <p:cNvSpPr/>
          <p:nvPr/>
        </p:nvSpPr>
        <p:spPr bwMode="auto">
          <a:xfrm>
            <a:off x="640080" y="4937760"/>
            <a:ext cx="228600" cy="2286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00" b="1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23993890" name="TextBox 15"/>
          <p:cNvSpPr txBox="1"/>
          <p:nvPr/>
        </p:nvSpPr>
        <p:spPr bwMode="auto">
          <a:xfrm>
            <a:off x="1005840" y="4910328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8EAF0"/>
                </a:solidFill>
                <a:latin typeface="Calibri"/>
              </a:rPr>
              <a:t>Emotion classification</a:t>
            </a:r>
            <a:endParaRPr/>
          </a:p>
        </p:txBody>
      </p:sp>
      <p:sp>
        <p:nvSpPr>
          <p:cNvPr id="1558922614" name="TextBox 16"/>
          <p:cNvSpPr txBox="1"/>
          <p:nvPr/>
        </p:nvSpPr>
        <p:spPr bwMode="auto">
          <a:xfrm>
            <a:off x="685800" y="525780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50" b="0" i="0">
                <a:solidFill>
                  <a:srgbClr val="8B8FA8"/>
                </a:solidFill>
                <a:latin typeface="Calibri"/>
              </a:rPr>
              <a:t>GoEmotions (monologg/bert-base-cased-goemotions-original, 27 categories, top-1). Available on Twitter, TikTok, Instagram.</a:t>
            </a:r>
            <a:endParaRPr/>
          </a:p>
        </p:txBody>
      </p:sp>
      <p:sp>
        <p:nvSpPr>
          <p:cNvPr id="12586573" name="Rectangle 17"/>
          <p:cNvSpPr/>
          <p:nvPr/>
        </p:nvSpPr>
        <p:spPr bwMode="auto">
          <a:xfrm>
            <a:off x="6446520" y="1325880"/>
            <a:ext cx="5577840" cy="160020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8001926" name="Oval 18"/>
          <p:cNvSpPr/>
          <p:nvPr/>
        </p:nvSpPr>
        <p:spPr bwMode="auto">
          <a:xfrm>
            <a:off x="6583680" y="1463040"/>
            <a:ext cx="228600" cy="2286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00" b="1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658294873" name="TextBox 19"/>
          <p:cNvSpPr txBox="1"/>
          <p:nvPr/>
        </p:nvSpPr>
        <p:spPr bwMode="auto">
          <a:xfrm>
            <a:off x="6949440" y="1435608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8EAF0"/>
                </a:solidFill>
                <a:latin typeface="Calibri"/>
              </a:rPr>
              <a:t>Rule-based othering detector</a:t>
            </a:r>
            <a:endParaRPr/>
          </a:p>
        </p:txBody>
      </p:sp>
      <p:sp>
        <p:nvSpPr>
          <p:cNvPr id="842660037" name="TextBox 20"/>
          <p:cNvSpPr txBox="1"/>
          <p:nvPr/>
        </p:nvSpPr>
        <p:spPr bwMode="auto">
          <a:xfrm>
            <a:off x="6629400" y="178308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50" b="0" i="0">
                <a:solidFill>
                  <a:srgbClr val="8B8FA8"/>
                </a:solidFill>
                <a:latin typeface="Calibri"/>
              </a:rPr>
              <a:t>33 surface patterns across 4 categories: threat metaphors (invasion, swarm, horde…), moral exclusion, generalisation, replacement conspiracy (great replacement…). Used to generate silver training labels.</a:t>
            </a:r>
            <a:endParaRPr/>
          </a:p>
        </p:txBody>
      </p:sp>
      <p:sp>
        <p:nvSpPr>
          <p:cNvPr id="1023228959" name="Rectangle 21"/>
          <p:cNvSpPr/>
          <p:nvPr/>
        </p:nvSpPr>
        <p:spPr bwMode="auto">
          <a:xfrm>
            <a:off x="6446520" y="3063240"/>
            <a:ext cx="5577840" cy="160020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2864986" name="Oval 22"/>
          <p:cNvSpPr/>
          <p:nvPr/>
        </p:nvSpPr>
        <p:spPr bwMode="auto">
          <a:xfrm>
            <a:off x="6583680" y="3200400"/>
            <a:ext cx="228600" cy="2286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00" b="1">
                <a:solidFill>
                  <a:srgbClr val="FFFFFF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1006269488" name="TextBox 23"/>
          <p:cNvSpPr txBox="1"/>
          <p:nvPr/>
        </p:nvSpPr>
        <p:spPr bwMode="auto">
          <a:xfrm>
            <a:off x="6949440" y="3172968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8EAF0"/>
                </a:solidFill>
                <a:latin typeface="Calibri"/>
              </a:rPr>
              <a:t>Supervised classifier</a:t>
            </a:r>
            <a:endParaRPr/>
          </a:p>
        </p:txBody>
      </p:sp>
      <p:sp>
        <p:nvSpPr>
          <p:cNvPr id="1403738054" name="TextBox 24"/>
          <p:cNvSpPr txBox="1"/>
          <p:nvPr/>
        </p:nvSpPr>
        <p:spPr bwMode="auto">
          <a:xfrm>
            <a:off x="6629400" y="352044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50" b="0" i="0">
                <a:solidFill>
                  <a:srgbClr val="8B8FA8"/>
                </a:solidFill>
                <a:latin typeface="Calibri"/>
              </a:rPr>
              <a:t>TF-IDF (50k features, 1–2 grams) + LinearSVC; also tested Logistic Regression &amp; sentence embeddings (all-MiniLM-L6-v2). 80/20 train/test split.</a:t>
            </a:r>
            <a:endParaRPr/>
          </a:p>
        </p:txBody>
      </p:sp>
      <p:sp>
        <p:nvSpPr>
          <p:cNvPr id="2094135456" name="Rectangle 25"/>
          <p:cNvSpPr/>
          <p:nvPr/>
        </p:nvSpPr>
        <p:spPr bwMode="auto">
          <a:xfrm>
            <a:off x="6446520" y="3035808"/>
            <a:ext cx="5577840" cy="160020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1631138" name="Oval 26"/>
          <p:cNvSpPr/>
          <p:nvPr/>
        </p:nvSpPr>
        <p:spPr bwMode="auto">
          <a:xfrm>
            <a:off x="6583680" y="3172968"/>
            <a:ext cx="228600" cy="2286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00" b="1">
                <a:solidFill>
                  <a:srgbClr val="FFFFFF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465149384" name="TextBox 27"/>
          <p:cNvSpPr txBox="1"/>
          <p:nvPr/>
        </p:nvSpPr>
        <p:spPr bwMode="auto">
          <a:xfrm>
            <a:off x="6949440" y="3145536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8EAF0"/>
                </a:solidFill>
                <a:latin typeface="Calibri"/>
              </a:rPr>
              <a:t>Topic modeling</a:t>
            </a:r>
            <a:endParaRPr/>
          </a:p>
        </p:txBody>
      </p:sp>
      <p:sp>
        <p:nvSpPr>
          <p:cNvPr id="604685406" name="TextBox 28"/>
          <p:cNvSpPr txBox="1"/>
          <p:nvPr/>
        </p:nvSpPr>
        <p:spPr bwMode="auto">
          <a:xfrm>
            <a:off x="6629400" y="3493008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50" b="0" i="0">
                <a:solidFill>
                  <a:srgbClr val="8B8FA8"/>
                </a:solidFill>
                <a:latin typeface="Calibri"/>
              </a:rPr>
              <a:t>BERTopic (sentence embeddings + UMAP + HDBSCAN, min_topic_size=50). Topic assignments cross-referenced with toxicity, emotion &amp; othering rates.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57028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1629865" name="TextBox 2"/>
          <p:cNvSpPr txBox="1"/>
          <p:nvPr/>
        </p:nvSpPr>
        <p:spPr bwMode="auto">
          <a:xfrm>
            <a:off x="11091671" y="126999"/>
            <a:ext cx="1007280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fr-FR" sz="900" b="0" i="0">
                <a:solidFill>
                  <a:srgbClr val="8B8FA8"/>
                </a:solidFill>
                <a:latin typeface="Calibri"/>
              </a:rPr>
              <a:t>5</a:t>
            </a:r>
            <a:r>
              <a:rPr sz="900" b="0" i="0">
                <a:solidFill>
                  <a:srgbClr val="8B8FA8"/>
                </a:solidFill>
                <a:latin typeface="Calibri"/>
              </a:rPr>
              <a:t> / </a:t>
            </a:r>
            <a:r>
              <a:rPr lang="fr-FR" sz="900" b="0" i="0">
                <a:solidFill>
                  <a:srgbClr val="8B8FA8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970504303" name="TextBox 3"/>
          <p:cNvSpPr txBox="1"/>
          <p:nvPr/>
        </p:nvSpPr>
        <p:spPr bwMode="auto">
          <a:xfrm>
            <a:off x="548640" y="365760"/>
            <a:ext cx="8229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6C63FF"/>
                </a:solidFill>
                <a:latin typeface="Calibri"/>
              </a:rPr>
              <a:t>RESULTS — PLATFORMS</a:t>
            </a:r>
            <a:endParaRPr/>
          </a:p>
        </p:txBody>
      </p:sp>
      <p:sp>
        <p:nvSpPr>
          <p:cNvPr id="117866047" name="TextBox 4"/>
          <p:cNvSpPr txBox="1"/>
          <p:nvPr/>
        </p:nvSpPr>
        <p:spPr bwMode="auto">
          <a:xfrm>
            <a:off x="548640" y="658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E8EAF0"/>
                </a:solidFill>
                <a:latin typeface="Calibri"/>
              </a:rPr>
              <a:t>Cross-Platform Findings</a:t>
            </a:r>
            <a:endParaRPr/>
          </a:p>
        </p:txBody>
      </p:sp>
      <p:sp>
        <p:nvSpPr>
          <p:cNvPr id="1654311519" name="Rectangle 5"/>
          <p:cNvSpPr/>
          <p:nvPr/>
        </p:nvSpPr>
        <p:spPr bwMode="auto">
          <a:xfrm>
            <a:off x="502920" y="1298448"/>
            <a:ext cx="5303520" cy="210312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4024538" name="TextBox 6"/>
          <p:cNvSpPr txBox="1"/>
          <p:nvPr/>
        </p:nvSpPr>
        <p:spPr bwMode="auto">
          <a:xfrm>
            <a:off x="640080" y="1389888"/>
            <a:ext cx="5029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0">
                <a:solidFill>
                  <a:srgbClr val="00C9A7"/>
                </a:solidFill>
                <a:latin typeface="Calibri"/>
              </a:rPr>
              <a:t>OTHERING RATE BY PLATFORM</a:t>
            </a:r>
            <a:endParaRPr/>
          </a:p>
        </p:txBody>
      </p:sp>
      <p:sp>
        <p:nvSpPr>
          <p:cNvPr id="1774109439" name="TextBox 7"/>
          <p:cNvSpPr txBox="1"/>
          <p:nvPr/>
        </p:nvSpPr>
        <p:spPr bwMode="auto">
          <a:xfrm>
            <a:off x="594360" y="1737360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TikTok</a:t>
            </a:r>
            <a:endParaRPr/>
          </a:p>
        </p:txBody>
      </p:sp>
      <p:sp>
        <p:nvSpPr>
          <p:cNvPr id="680758376" name="Rectangle 8"/>
          <p:cNvSpPr/>
          <p:nvPr/>
        </p:nvSpPr>
        <p:spPr bwMode="auto">
          <a:xfrm>
            <a:off x="1676400" y="1762760"/>
            <a:ext cx="361188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2706541" name="Rectangle 9"/>
          <p:cNvSpPr/>
          <p:nvPr/>
        </p:nvSpPr>
        <p:spPr bwMode="auto">
          <a:xfrm>
            <a:off x="1676400" y="1762760"/>
            <a:ext cx="3611880" cy="127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934156" name="TextBox 10"/>
          <p:cNvSpPr txBox="1"/>
          <p:nvPr/>
        </p:nvSpPr>
        <p:spPr bwMode="auto">
          <a:xfrm>
            <a:off x="5339080" y="17373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3.58%</a:t>
            </a:r>
            <a:endParaRPr/>
          </a:p>
        </p:txBody>
      </p:sp>
      <p:sp>
        <p:nvSpPr>
          <p:cNvPr id="1836674982" name="TextBox 11"/>
          <p:cNvSpPr txBox="1"/>
          <p:nvPr/>
        </p:nvSpPr>
        <p:spPr bwMode="auto">
          <a:xfrm>
            <a:off x="594360" y="2016760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Instagram</a:t>
            </a:r>
            <a:endParaRPr/>
          </a:p>
        </p:txBody>
      </p:sp>
      <p:sp>
        <p:nvSpPr>
          <p:cNvPr id="1850903391" name="Rectangle 12"/>
          <p:cNvSpPr/>
          <p:nvPr/>
        </p:nvSpPr>
        <p:spPr bwMode="auto">
          <a:xfrm>
            <a:off x="1676400" y="2042160"/>
            <a:ext cx="361188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6484201" name="Rectangle 13"/>
          <p:cNvSpPr/>
          <p:nvPr/>
        </p:nvSpPr>
        <p:spPr bwMode="auto">
          <a:xfrm>
            <a:off x="1676400" y="2042160"/>
            <a:ext cx="1785761" cy="127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9865606" name="TextBox 14"/>
          <p:cNvSpPr txBox="1"/>
          <p:nvPr/>
        </p:nvSpPr>
        <p:spPr bwMode="auto">
          <a:xfrm>
            <a:off x="5339080" y="20167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1.77%</a:t>
            </a:r>
            <a:endParaRPr/>
          </a:p>
        </p:txBody>
      </p:sp>
      <p:sp>
        <p:nvSpPr>
          <p:cNvPr id="741399009" name="TextBox 15"/>
          <p:cNvSpPr txBox="1"/>
          <p:nvPr/>
        </p:nvSpPr>
        <p:spPr bwMode="auto">
          <a:xfrm>
            <a:off x="594360" y="2296160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Twitter</a:t>
            </a:r>
            <a:endParaRPr/>
          </a:p>
        </p:txBody>
      </p:sp>
      <p:sp>
        <p:nvSpPr>
          <p:cNvPr id="1178840355" name="Rectangle 16"/>
          <p:cNvSpPr/>
          <p:nvPr/>
        </p:nvSpPr>
        <p:spPr bwMode="auto">
          <a:xfrm>
            <a:off x="1676400" y="2321560"/>
            <a:ext cx="361188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072312" name="Rectangle 17"/>
          <p:cNvSpPr/>
          <p:nvPr/>
        </p:nvSpPr>
        <p:spPr bwMode="auto">
          <a:xfrm>
            <a:off x="1676400" y="2321560"/>
            <a:ext cx="1674782" cy="127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6573946" name="TextBox 18"/>
          <p:cNvSpPr txBox="1"/>
          <p:nvPr/>
        </p:nvSpPr>
        <p:spPr bwMode="auto">
          <a:xfrm>
            <a:off x="5339080" y="22961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1.66%</a:t>
            </a:r>
            <a:endParaRPr/>
          </a:p>
        </p:txBody>
      </p:sp>
      <p:sp>
        <p:nvSpPr>
          <p:cNvPr id="1857174780" name="TextBox 19"/>
          <p:cNvSpPr txBox="1"/>
          <p:nvPr/>
        </p:nvSpPr>
        <p:spPr bwMode="auto">
          <a:xfrm>
            <a:off x="594360" y="2575560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Reddit</a:t>
            </a:r>
            <a:endParaRPr/>
          </a:p>
        </p:txBody>
      </p:sp>
      <p:sp>
        <p:nvSpPr>
          <p:cNvPr id="886890645" name="Rectangle 20"/>
          <p:cNvSpPr/>
          <p:nvPr/>
        </p:nvSpPr>
        <p:spPr bwMode="auto">
          <a:xfrm>
            <a:off x="1676400" y="2600960"/>
            <a:ext cx="361188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4364578" name="Rectangle 21"/>
          <p:cNvSpPr/>
          <p:nvPr/>
        </p:nvSpPr>
        <p:spPr bwMode="auto">
          <a:xfrm>
            <a:off x="1676400" y="2600960"/>
            <a:ext cx="827302" cy="127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9262217" name="TextBox 22"/>
          <p:cNvSpPr txBox="1"/>
          <p:nvPr/>
        </p:nvSpPr>
        <p:spPr bwMode="auto">
          <a:xfrm>
            <a:off x="5339080" y="25755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0.82%</a:t>
            </a:r>
            <a:endParaRPr/>
          </a:p>
        </p:txBody>
      </p:sp>
      <p:sp>
        <p:nvSpPr>
          <p:cNvPr id="221519767" name="TextBox 23"/>
          <p:cNvSpPr txBox="1"/>
          <p:nvPr/>
        </p:nvSpPr>
        <p:spPr bwMode="auto">
          <a:xfrm>
            <a:off x="640080" y="30815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1">
                <a:solidFill>
                  <a:srgbClr val="8B8FA8"/>
                </a:solidFill>
                <a:latin typeface="Calibri"/>
              </a:rPr>
              <a:t>TikTok shows 4× higher othering rate than Reddit. r/immigration (0.04%) is lowest across all.</a:t>
            </a:r>
            <a:endParaRPr/>
          </a:p>
        </p:txBody>
      </p:sp>
      <p:sp>
        <p:nvSpPr>
          <p:cNvPr id="747925808" name="Rectangle 24"/>
          <p:cNvSpPr/>
          <p:nvPr/>
        </p:nvSpPr>
        <p:spPr bwMode="auto">
          <a:xfrm>
            <a:off x="502920" y="3538728"/>
            <a:ext cx="5303520" cy="406908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1804362" name="TextBox 25"/>
          <p:cNvSpPr txBox="1"/>
          <p:nvPr/>
        </p:nvSpPr>
        <p:spPr bwMode="auto">
          <a:xfrm>
            <a:off x="640080" y="3630168"/>
            <a:ext cx="5029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0">
                <a:solidFill>
                  <a:srgbClr val="00C9A7"/>
                </a:solidFill>
                <a:latin typeface="Calibri"/>
              </a:rPr>
              <a:t>REDDIT — OTHERING RATE BY SUBREDDIT</a:t>
            </a:r>
            <a:endParaRPr/>
          </a:p>
        </p:txBody>
      </p:sp>
      <p:sp>
        <p:nvSpPr>
          <p:cNvPr id="554458355" name="TextBox 26"/>
          <p:cNvSpPr txBox="1"/>
          <p:nvPr/>
        </p:nvSpPr>
        <p:spPr bwMode="auto">
          <a:xfrm>
            <a:off x="594360" y="3977640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r/worldnews</a:t>
            </a:r>
            <a:endParaRPr/>
          </a:p>
        </p:txBody>
      </p:sp>
      <p:sp>
        <p:nvSpPr>
          <p:cNvPr id="1956088138" name="Rectangle 27"/>
          <p:cNvSpPr/>
          <p:nvPr/>
        </p:nvSpPr>
        <p:spPr bwMode="auto">
          <a:xfrm>
            <a:off x="1676400" y="4003040"/>
            <a:ext cx="361188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4906644" name="Rectangle 28"/>
          <p:cNvSpPr/>
          <p:nvPr/>
        </p:nvSpPr>
        <p:spPr bwMode="auto">
          <a:xfrm>
            <a:off x="1676400" y="4003040"/>
            <a:ext cx="3611879" cy="127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8688193" name="TextBox 29"/>
          <p:cNvSpPr txBox="1"/>
          <p:nvPr/>
        </p:nvSpPr>
        <p:spPr bwMode="auto">
          <a:xfrm>
            <a:off x="5339080" y="397764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1.56%</a:t>
            </a:r>
            <a:endParaRPr/>
          </a:p>
        </p:txBody>
      </p:sp>
      <p:sp>
        <p:nvSpPr>
          <p:cNvPr id="1988694328" name="TextBox 30"/>
          <p:cNvSpPr txBox="1"/>
          <p:nvPr/>
        </p:nvSpPr>
        <p:spPr bwMode="auto">
          <a:xfrm>
            <a:off x="594360" y="4257040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r/europe</a:t>
            </a:r>
            <a:endParaRPr/>
          </a:p>
        </p:txBody>
      </p:sp>
      <p:sp>
        <p:nvSpPr>
          <p:cNvPr id="1104271140" name="Rectangle 31"/>
          <p:cNvSpPr/>
          <p:nvPr/>
        </p:nvSpPr>
        <p:spPr bwMode="auto">
          <a:xfrm>
            <a:off x="1676400" y="4282440"/>
            <a:ext cx="361188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8412088" name="Rectangle 32"/>
          <p:cNvSpPr/>
          <p:nvPr/>
        </p:nvSpPr>
        <p:spPr bwMode="auto">
          <a:xfrm>
            <a:off x="1676400" y="4282440"/>
            <a:ext cx="2477379" cy="127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4470606" name="TextBox 33"/>
          <p:cNvSpPr txBox="1"/>
          <p:nvPr/>
        </p:nvSpPr>
        <p:spPr bwMode="auto">
          <a:xfrm>
            <a:off x="5339080" y="425704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1.07%</a:t>
            </a:r>
            <a:endParaRPr/>
          </a:p>
        </p:txBody>
      </p:sp>
      <p:sp>
        <p:nvSpPr>
          <p:cNvPr id="1982228668" name="TextBox 34"/>
          <p:cNvSpPr txBox="1"/>
          <p:nvPr/>
        </p:nvSpPr>
        <p:spPr bwMode="auto">
          <a:xfrm>
            <a:off x="594360" y="4536440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r/ukpolitics</a:t>
            </a:r>
            <a:endParaRPr/>
          </a:p>
        </p:txBody>
      </p:sp>
      <p:sp>
        <p:nvSpPr>
          <p:cNvPr id="2033058258" name="Rectangle 35"/>
          <p:cNvSpPr/>
          <p:nvPr/>
        </p:nvSpPr>
        <p:spPr bwMode="auto">
          <a:xfrm>
            <a:off x="1676400" y="4561840"/>
            <a:ext cx="361188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1930144" name="Rectangle 36"/>
          <p:cNvSpPr/>
          <p:nvPr/>
        </p:nvSpPr>
        <p:spPr bwMode="auto">
          <a:xfrm>
            <a:off x="1676400" y="4561840"/>
            <a:ext cx="1759633" cy="127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719366" name="TextBox 37"/>
          <p:cNvSpPr txBox="1"/>
          <p:nvPr/>
        </p:nvSpPr>
        <p:spPr bwMode="auto">
          <a:xfrm>
            <a:off x="5339080" y="453644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0.76%</a:t>
            </a:r>
            <a:endParaRPr/>
          </a:p>
        </p:txBody>
      </p:sp>
      <p:sp>
        <p:nvSpPr>
          <p:cNvPr id="125397411" name="TextBox 38"/>
          <p:cNvSpPr txBox="1"/>
          <p:nvPr/>
        </p:nvSpPr>
        <p:spPr bwMode="auto">
          <a:xfrm>
            <a:off x="594360" y="4815840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r/politics</a:t>
            </a:r>
            <a:endParaRPr/>
          </a:p>
        </p:txBody>
      </p:sp>
      <p:sp>
        <p:nvSpPr>
          <p:cNvPr id="97332621" name="Rectangle 39"/>
          <p:cNvSpPr/>
          <p:nvPr/>
        </p:nvSpPr>
        <p:spPr bwMode="auto">
          <a:xfrm>
            <a:off x="1676400" y="4841240"/>
            <a:ext cx="361188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8335705" name="Rectangle 40"/>
          <p:cNvSpPr/>
          <p:nvPr/>
        </p:nvSpPr>
        <p:spPr bwMode="auto">
          <a:xfrm>
            <a:off x="1676400" y="4841240"/>
            <a:ext cx="1551256" cy="127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929859" name="TextBox 41"/>
          <p:cNvSpPr txBox="1"/>
          <p:nvPr/>
        </p:nvSpPr>
        <p:spPr bwMode="auto">
          <a:xfrm>
            <a:off x="5339080" y="481584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0.67%</a:t>
            </a:r>
            <a:endParaRPr/>
          </a:p>
        </p:txBody>
      </p:sp>
      <p:sp>
        <p:nvSpPr>
          <p:cNvPr id="965421857" name="TextBox 42"/>
          <p:cNvSpPr txBox="1"/>
          <p:nvPr/>
        </p:nvSpPr>
        <p:spPr bwMode="auto">
          <a:xfrm>
            <a:off x="594360" y="5095240"/>
            <a:ext cx="10058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8B8FA8"/>
                </a:solidFill>
                <a:latin typeface="Calibri"/>
              </a:rPr>
              <a:t>r/immigration</a:t>
            </a:r>
            <a:endParaRPr/>
          </a:p>
        </p:txBody>
      </p:sp>
      <p:sp>
        <p:nvSpPr>
          <p:cNvPr id="1312286107" name="Rectangle 43"/>
          <p:cNvSpPr/>
          <p:nvPr/>
        </p:nvSpPr>
        <p:spPr bwMode="auto">
          <a:xfrm>
            <a:off x="1676400" y="5120640"/>
            <a:ext cx="3611880" cy="1270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739679" name="Rectangle 44"/>
          <p:cNvSpPr/>
          <p:nvPr/>
        </p:nvSpPr>
        <p:spPr bwMode="auto">
          <a:xfrm>
            <a:off x="1676400" y="5120640"/>
            <a:ext cx="92612" cy="127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1675901" name="TextBox 45"/>
          <p:cNvSpPr txBox="1"/>
          <p:nvPr/>
        </p:nvSpPr>
        <p:spPr bwMode="auto">
          <a:xfrm>
            <a:off x="5339080" y="509524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E8EAF0"/>
                </a:solidFill>
                <a:latin typeface="Calibri"/>
              </a:rPr>
              <a:t>0.04%</a:t>
            </a:r>
            <a:endParaRPr/>
          </a:p>
        </p:txBody>
      </p:sp>
      <p:sp>
        <p:nvSpPr>
          <p:cNvPr id="1332669344" name="TextBox 46"/>
          <p:cNvSpPr txBox="1"/>
          <p:nvPr/>
        </p:nvSpPr>
        <p:spPr bwMode="auto">
          <a:xfrm>
            <a:off x="640080" y="5367528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50" b="0" i="0">
                <a:solidFill>
                  <a:srgbClr val="8B8FA8"/>
                </a:solidFill>
                <a:latin typeface="Calibri"/>
              </a:rPr>
              <a:t>Highest othering in general news communities (worldnews, europe) — not in immigration-specific communities. r/worldnews leads at 1.56%, r/immigration is near zero (0.04%). Suggests othering is driven by political/international framing, not by immigration communities themselves.</a:t>
            </a:r>
            <a:endParaRPr/>
          </a:p>
        </p:txBody>
      </p:sp>
      <p:sp>
        <p:nvSpPr>
          <p:cNvPr id="1649021752" name="Rectangle 47"/>
          <p:cNvSpPr/>
          <p:nvPr/>
        </p:nvSpPr>
        <p:spPr bwMode="auto">
          <a:xfrm>
            <a:off x="6126480" y="1298448"/>
            <a:ext cx="5760720" cy="2743200"/>
          </a:xfrm>
          <a:prstGeom prst="rect">
            <a:avLst/>
          </a:prstGeom>
          <a:solidFill>
            <a:srgbClr val="0F1117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7567741" name="TextBox 48"/>
          <p:cNvSpPr txBox="1"/>
          <p:nvPr/>
        </p:nvSpPr>
        <p:spPr bwMode="auto">
          <a:xfrm>
            <a:off x="6263640" y="1389888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PRONOUN TYPE VS. OTHERING RATE (FULL CORPUS)</a:t>
            </a:r>
            <a:endParaRPr/>
          </a:p>
        </p:txBody>
      </p:sp>
      <p:sp>
        <p:nvSpPr>
          <p:cNvPr id="2086253866" name="TextBox 49"/>
          <p:cNvSpPr txBox="1"/>
          <p:nvPr/>
        </p:nvSpPr>
        <p:spPr bwMode="auto">
          <a:xfrm>
            <a:off x="6327648" y="1717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8B8FA8"/>
                </a:solidFill>
                <a:latin typeface="Calibri"/>
              </a:rPr>
              <a:t>Pronoun structure</a:t>
            </a:r>
            <a:endParaRPr/>
          </a:p>
        </p:txBody>
      </p:sp>
      <p:sp>
        <p:nvSpPr>
          <p:cNvPr id="236653029" name="TextBox 50"/>
          <p:cNvSpPr txBox="1"/>
          <p:nvPr/>
        </p:nvSpPr>
        <p:spPr bwMode="auto">
          <a:xfrm>
            <a:off x="8613648" y="1717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8B8FA8"/>
                </a:solidFill>
                <a:latin typeface="Calibri"/>
              </a:rPr>
              <a:t>Share of posts</a:t>
            </a:r>
            <a:endParaRPr/>
          </a:p>
        </p:txBody>
      </p:sp>
      <p:sp>
        <p:nvSpPr>
          <p:cNvPr id="1072400319" name="TextBox 51"/>
          <p:cNvSpPr txBox="1"/>
          <p:nvPr/>
        </p:nvSpPr>
        <p:spPr bwMode="auto">
          <a:xfrm>
            <a:off x="9985248" y="17170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8B8FA8"/>
                </a:solidFill>
                <a:latin typeface="Calibri"/>
              </a:rPr>
              <a:t>Othering rate</a:t>
            </a:r>
            <a:endParaRPr/>
          </a:p>
        </p:txBody>
      </p:sp>
      <p:sp>
        <p:nvSpPr>
          <p:cNvPr id="288991083" name="Rectangle 52"/>
          <p:cNvSpPr/>
          <p:nvPr/>
        </p:nvSpPr>
        <p:spPr bwMode="auto">
          <a:xfrm>
            <a:off x="6217920" y="1945639"/>
            <a:ext cx="557784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2395861" name="TextBox 53"/>
          <p:cNvSpPr txBox="1"/>
          <p:nvPr/>
        </p:nvSpPr>
        <p:spPr bwMode="auto">
          <a:xfrm>
            <a:off x="6327648" y="1996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00C9A7"/>
                </a:solidFill>
                <a:latin typeface="Calibri"/>
              </a:rPr>
              <a:t>both (we + them)</a:t>
            </a:r>
            <a:endParaRPr/>
          </a:p>
        </p:txBody>
      </p:sp>
      <p:sp>
        <p:nvSpPr>
          <p:cNvPr id="481696264" name="TextBox 54"/>
          <p:cNvSpPr txBox="1"/>
          <p:nvPr/>
        </p:nvSpPr>
        <p:spPr bwMode="auto">
          <a:xfrm>
            <a:off x="8613648" y="1996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00C9A7"/>
                </a:solidFill>
                <a:latin typeface="Calibri"/>
              </a:rPr>
              <a:t>6.7%</a:t>
            </a:r>
            <a:endParaRPr/>
          </a:p>
        </p:txBody>
      </p:sp>
      <p:sp>
        <p:nvSpPr>
          <p:cNvPr id="1167786109" name="TextBox 55"/>
          <p:cNvSpPr txBox="1"/>
          <p:nvPr/>
        </p:nvSpPr>
        <p:spPr bwMode="auto">
          <a:xfrm>
            <a:off x="9985248" y="1996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00C9A7"/>
                </a:solidFill>
                <a:latin typeface="Calibri"/>
              </a:rPr>
              <a:t>22.3%</a:t>
            </a:r>
            <a:endParaRPr/>
          </a:p>
        </p:txBody>
      </p:sp>
      <p:sp>
        <p:nvSpPr>
          <p:cNvPr id="319690177" name="Rectangle 56"/>
          <p:cNvSpPr/>
          <p:nvPr/>
        </p:nvSpPr>
        <p:spPr bwMode="auto">
          <a:xfrm>
            <a:off x="6217920" y="2225040"/>
            <a:ext cx="557784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8487961" name="TextBox 57"/>
          <p:cNvSpPr txBox="1"/>
          <p:nvPr/>
        </p:nvSpPr>
        <p:spPr bwMode="auto">
          <a:xfrm>
            <a:off x="6327648" y="2275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them only</a:t>
            </a:r>
            <a:endParaRPr/>
          </a:p>
        </p:txBody>
      </p:sp>
      <p:sp>
        <p:nvSpPr>
          <p:cNvPr id="538025728" name="TextBox 58"/>
          <p:cNvSpPr txBox="1"/>
          <p:nvPr/>
        </p:nvSpPr>
        <p:spPr bwMode="auto">
          <a:xfrm>
            <a:off x="8613648" y="2275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18.5%</a:t>
            </a:r>
            <a:endParaRPr/>
          </a:p>
        </p:txBody>
      </p:sp>
      <p:sp>
        <p:nvSpPr>
          <p:cNvPr id="1169749876" name="TextBox 59"/>
          <p:cNvSpPr txBox="1"/>
          <p:nvPr/>
        </p:nvSpPr>
        <p:spPr bwMode="auto">
          <a:xfrm>
            <a:off x="9985248" y="22758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12.3%</a:t>
            </a:r>
            <a:endParaRPr/>
          </a:p>
        </p:txBody>
      </p:sp>
      <p:sp>
        <p:nvSpPr>
          <p:cNvPr id="1173040400" name="Rectangle 60"/>
          <p:cNvSpPr/>
          <p:nvPr/>
        </p:nvSpPr>
        <p:spPr bwMode="auto">
          <a:xfrm>
            <a:off x="6217920" y="2504440"/>
            <a:ext cx="557784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3128234" name="TextBox 61"/>
          <p:cNvSpPr txBox="1"/>
          <p:nvPr/>
        </p:nvSpPr>
        <p:spPr bwMode="auto">
          <a:xfrm>
            <a:off x="6327648" y="2555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we only</a:t>
            </a:r>
            <a:endParaRPr/>
          </a:p>
        </p:txBody>
      </p:sp>
      <p:sp>
        <p:nvSpPr>
          <p:cNvPr id="1285183098" name="TextBox 62"/>
          <p:cNvSpPr txBox="1"/>
          <p:nvPr/>
        </p:nvSpPr>
        <p:spPr bwMode="auto">
          <a:xfrm>
            <a:off x="8613648" y="2555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11.3%</a:t>
            </a:r>
            <a:endParaRPr/>
          </a:p>
        </p:txBody>
      </p:sp>
      <p:sp>
        <p:nvSpPr>
          <p:cNvPr id="85814680" name="TextBox 63"/>
          <p:cNvSpPr txBox="1"/>
          <p:nvPr/>
        </p:nvSpPr>
        <p:spPr bwMode="auto">
          <a:xfrm>
            <a:off x="9985248" y="2555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 6.9%</a:t>
            </a:r>
            <a:endParaRPr/>
          </a:p>
        </p:txBody>
      </p:sp>
      <p:sp>
        <p:nvSpPr>
          <p:cNvPr id="820623815" name="Rectangle 64"/>
          <p:cNvSpPr/>
          <p:nvPr/>
        </p:nvSpPr>
        <p:spPr bwMode="auto">
          <a:xfrm>
            <a:off x="6217920" y="2783840"/>
            <a:ext cx="557784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8968483" name="TextBox 65"/>
          <p:cNvSpPr txBox="1"/>
          <p:nvPr/>
        </p:nvSpPr>
        <p:spPr bwMode="auto">
          <a:xfrm>
            <a:off x="6327648" y="2834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8B8FA8"/>
                </a:solidFill>
                <a:latin typeface="Calibri"/>
              </a:rPr>
              <a:t>none</a:t>
            </a:r>
            <a:endParaRPr/>
          </a:p>
        </p:txBody>
      </p:sp>
      <p:sp>
        <p:nvSpPr>
          <p:cNvPr id="1550701406" name="TextBox 66"/>
          <p:cNvSpPr txBox="1"/>
          <p:nvPr/>
        </p:nvSpPr>
        <p:spPr bwMode="auto">
          <a:xfrm>
            <a:off x="8613648" y="2834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8B8FA8"/>
                </a:solidFill>
                <a:latin typeface="Calibri"/>
              </a:rPr>
              <a:t>63.4%</a:t>
            </a:r>
            <a:endParaRPr/>
          </a:p>
        </p:txBody>
      </p:sp>
      <p:sp>
        <p:nvSpPr>
          <p:cNvPr id="493435850" name="TextBox 67"/>
          <p:cNvSpPr txBox="1"/>
          <p:nvPr/>
        </p:nvSpPr>
        <p:spPr bwMode="auto">
          <a:xfrm>
            <a:off x="9985248" y="2834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8B8FA8"/>
                </a:solidFill>
                <a:latin typeface="Calibri"/>
              </a:rPr>
              <a:t> 1.2%</a:t>
            </a:r>
            <a:endParaRPr/>
          </a:p>
        </p:txBody>
      </p:sp>
      <p:sp>
        <p:nvSpPr>
          <p:cNvPr id="1271578323" name="Rectangle 68"/>
          <p:cNvSpPr/>
          <p:nvPr/>
        </p:nvSpPr>
        <p:spPr bwMode="auto">
          <a:xfrm>
            <a:off x="6217920" y="3063240"/>
            <a:ext cx="557784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3208222" name="TextBox 69"/>
          <p:cNvSpPr txBox="1"/>
          <p:nvPr/>
        </p:nvSpPr>
        <p:spPr bwMode="auto">
          <a:xfrm>
            <a:off x="6263640" y="3749040"/>
            <a:ext cx="548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1">
                <a:solidFill>
                  <a:srgbClr val="8B8FA8"/>
                </a:solidFill>
                <a:latin typeface="Calibri"/>
              </a:rPr>
              <a:t>Posts with both pronouns are 19× more likely to contain othering language than pronoun-free posts.</a:t>
            </a:r>
            <a:endParaRPr/>
          </a:p>
        </p:txBody>
      </p:sp>
      <p:sp>
        <p:nvSpPr>
          <p:cNvPr id="1182729156" name="Rectangle 70"/>
          <p:cNvSpPr/>
          <p:nvPr/>
        </p:nvSpPr>
        <p:spPr bwMode="auto">
          <a:xfrm>
            <a:off x="6126480" y="4178808"/>
            <a:ext cx="5760720" cy="3383280"/>
          </a:xfrm>
          <a:prstGeom prst="rect">
            <a:avLst/>
          </a:prstGeom>
          <a:solidFill>
            <a:srgbClr val="0F1117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8132744" name="TextBox 71"/>
          <p:cNvSpPr txBox="1"/>
          <p:nvPr/>
        </p:nvSpPr>
        <p:spPr bwMode="auto">
          <a:xfrm>
            <a:off x="6263640" y="4270248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0">
                <a:solidFill>
                  <a:srgbClr val="00C9A7"/>
                </a:solidFill>
                <a:latin typeface="Calibri"/>
              </a:rPr>
              <a:t>TOXICITY PROFILE — PLATFORM COMPARISON</a:t>
            </a:r>
            <a:endParaRPr/>
          </a:p>
        </p:txBody>
      </p:sp>
      <p:sp>
        <p:nvSpPr>
          <p:cNvPr id="1582845913" name="TextBox 72"/>
          <p:cNvSpPr txBox="1"/>
          <p:nvPr/>
        </p:nvSpPr>
        <p:spPr bwMode="auto">
          <a:xfrm>
            <a:off x="6327648" y="459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8B8FA8"/>
                </a:solidFill>
                <a:latin typeface="Calibri"/>
              </a:rPr>
              <a:t>Platform</a:t>
            </a:r>
            <a:endParaRPr/>
          </a:p>
        </p:txBody>
      </p:sp>
      <p:sp>
        <p:nvSpPr>
          <p:cNvPr id="1666624866" name="TextBox 73"/>
          <p:cNvSpPr txBox="1"/>
          <p:nvPr/>
        </p:nvSpPr>
        <p:spPr bwMode="auto">
          <a:xfrm>
            <a:off x="8156448" y="4597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8B8FA8"/>
                </a:solidFill>
                <a:latin typeface="Calibri"/>
              </a:rPr>
              <a:t>Avg toxicity</a:t>
            </a:r>
            <a:endParaRPr/>
          </a:p>
        </p:txBody>
      </p:sp>
      <p:sp>
        <p:nvSpPr>
          <p:cNvPr id="2037228314" name="TextBox 74"/>
          <p:cNvSpPr txBox="1"/>
          <p:nvPr/>
        </p:nvSpPr>
        <p:spPr bwMode="auto">
          <a:xfrm>
            <a:off x="9802368" y="459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8B8FA8"/>
                </a:solidFill>
                <a:latin typeface="Calibri"/>
              </a:rPr>
              <a:t>Hate speech ref.</a:t>
            </a:r>
            <a:endParaRPr/>
          </a:p>
        </p:txBody>
      </p:sp>
      <p:sp>
        <p:nvSpPr>
          <p:cNvPr id="517515748" name="Rectangle 75"/>
          <p:cNvSpPr/>
          <p:nvPr/>
        </p:nvSpPr>
        <p:spPr bwMode="auto">
          <a:xfrm>
            <a:off x="6217920" y="4826000"/>
            <a:ext cx="557784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338126" name="TextBox 76"/>
          <p:cNvSpPr txBox="1"/>
          <p:nvPr/>
        </p:nvSpPr>
        <p:spPr bwMode="auto">
          <a:xfrm>
            <a:off x="6327648" y="4876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6B6B"/>
                </a:solidFill>
                <a:latin typeface="Calibri"/>
              </a:rPr>
              <a:t>TikTok</a:t>
            </a:r>
            <a:endParaRPr/>
          </a:p>
        </p:txBody>
      </p:sp>
      <p:sp>
        <p:nvSpPr>
          <p:cNvPr id="1205766527" name="TextBox 77"/>
          <p:cNvSpPr txBox="1"/>
          <p:nvPr/>
        </p:nvSpPr>
        <p:spPr bwMode="auto">
          <a:xfrm>
            <a:off x="8156448" y="4876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6B6B"/>
                </a:solidFill>
                <a:latin typeface="Calibri"/>
              </a:rPr>
              <a:t>0.123</a:t>
            </a:r>
            <a:endParaRPr/>
          </a:p>
        </p:txBody>
      </p:sp>
      <p:sp>
        <p:nvSpPr>
          <p:cNvPr id="785484784" name="TextBox 78"/>
          <p:cNvSpPr txBox="1"/>
          <p:nvPr/>
        </p:nvSpPr>
        <p:spPr bwMode="auto">
          <a:xfrm>
            <a:off x="9802368" y="4876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6B6B"/>
                </a:solidFill>
                <a:latin typeface="Calibri"/>
              </a:rPr>
              <a:t>0.595 (ref.)</a:t>
            </a:r>
            <a:endParaRPr/>
          </a:p>
        </p:txBody>
      </p:sp>
      <p:sp>
        <p:nvSpPr>
          <p:cNvPr id="754033142" name="Rectangle 79"/>
          <p:cNvSpPr/>
          <p:nvPr/>
        </p:nvSpPr>
        <p:spPr bwMode="auto">
          <a:xfrm>
            <a:off x="6217920" y="5105400"/>
            <a:ext cx="557784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7937005" name="TextBox 80"/>
          <p:cNvSpPr txBox="1"/>
          <p:nvPr/>
        </p:nvSpPr>
        <p:spPr bwMode="auto">
          <a:xfrm>
            <a:off x="6327648" y="5156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Instagram</a:t>
            </a:r>
            <a:endParaRPr/>
          </a:p>
        </p:txBody>
      </p:sp>
      <p:sp>
        <p:nvSpPr>
          <p:cNvPr id="82524444" name="TextBox 81"/>
          <p:cNvSpPr txBox="1"/>
          <p:nvPr/>
        </p:nvSpPr>
        <p:spPr bwMode="auto">
          <a:xfrm>
            <a:off x="8156448" y="51562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0.091</a:t>
            </a:r>
            <a:endParaRPr/>
          </a:p>
        </p:txBody>
      </p:sp>
      <p:sp>
        <p:nvSpPr>
          <p:cNvPr id="463709261" name="TextBox 82"/>
          <p:cNvSpPr txBox="1"/>
          <p:nvPr/>
        </p:nvSpPr>
        <p:spPr bwMode="auto">
          <a:xfrm>
            <a:off x="9802368" y="5156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—</a:t>
            </a:r>
            <a:endParaRPr/>
          </a:p>
        </p:txBody>
      </p:sp>
      <p:sp>
        <p:nvSpPr>
          <p:cNvPr id="1987487006" name="Rectangle 83"/>
          <p:cNvSpPr/>
          <p:nvPr/>
        </p:nvSpPr>
        <p:spPr bwMode="auto">
          <a:xfrm>
            <a:off x="6217920" y="5384800"/>
            <a:ext cx="557784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313305" name="TextBox 84"/>
          <p:cNvSpPr txBox="1"/>
          <p:nvPr/>
        </p:nvSpPr>
        <p:spPr bwMode="auto">
          <a:xfrm>
            <a:off x="6327648" y="5435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Reddit</a:t>
            </a:r>
            <a:endParaRPr/>
          </a:p>
        </p:txBody>
      </p:sp>
      <p:sp>
        <p:nvSpPr>
          <p:cNvPr id="918101740" name="TextBox 85"/>
          <p:cNvSpPr txBox="1"/>
          <p:nvPr/>
        </p:nvSpPr>
        <p:spPr bwMode="auto">
          <a:xfrm>
            <a:off x="8156448" y="54356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0.020</a:t>
            </a:r>
            <a:endParaRPr/>
          </a:p>
        </p:txBody>
      </p:sp>
      <p:sp>
        <p:nvSpPr>
          <p:cNvPr id="273698871" name="TextBox 86"/>
          <p:cNvSpPr txBox="1"/>
          <p:nvPr/>
        </p:nvSpPr>
        <p:spPr bwMode="auto">
          <a:xfrm>
            <a:off x="9802368" y="5435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—</a:t>
            </a:r>
            <a:endParaRPr/>
          </a:p>
        </p:txBody>
      </p:sp>
      <p:sp>
        <p:nvSpPr>
          <p:cNvPr id="1467865033" name="Rectangle 87"/>
          <p:cNvSpPr/>
          <p:nvPr/>
        </p:nvSpPr>
        <p:spPr bwMode="auto">
          <a:xfrm>
            <a:off x="6217920" y="5664200"/>
            <a:ext cx="557784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3933151" name="TextBox 88"/>
          <p:cNvSpPr txBox="1"/>
          <p:nvPr/>
        </p:nvSpPr>
        <p:spPr bwMode="auto">
          <a:xfrm>
            <a:off x="6327648" y="5715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Twitter</a:t>
            </a:r>
            <a:endParaRPr/>
          </a:p>
        </p:txBody>
      </p:sp>
      <p:sp>
        <p:nvSpPr>
          <p:cNvPr id="911882607" name="TextBox 89"/>
          <p:cNvSpPr txBox="1"/>
          <p:nvPr/>
        </p:nvSpPr>
        <p:spPr bwMode="auto">
          <a:xfrm>
            <a:off x="8156448" y="5715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0.003</a:t>
            </a:r>
            <a:endParaRPr/>
          </a:p>
        </p:txBody>
      </p:sp>
      <p:sp>
        <p:nvSpPr>
          <p:cNvPr id="754325767" name="TextBox 90"/>
          <p:cNvSpPr txBox="1"/>
          <p:nvPr/>
        </p:nvSpPr>
        <p:spPr bwMode="auto">
          <a:xfrm>
            <a:off x="9802368" y="5715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8EAF0"/>
                </a:solidFill>
                <a:latin typeface="Calibri"/>
              </a:rPr>
              <a:t>—</a:t>
            </a:r>
            <a:endParaRPr/>
          </a:p>
        </p:txBody>
      </p:sp>
      <p:sp>
        <p:nvSpPr>
          <p:cNvPr id="769178018" name="Rectangle 91"/>
          <p:cNvSpPr/>
          <p:nvPr/>
        </p:nvSpPr>
        <p:spPr bwMode="auto">
          <a:xfrm>
            <a:off x="6217920" y="5943600"/>
            <a:ext cx="5577840" cy="12700"/>
          </a:xfrm>
          <a:prstGeom prst="rect">
            <a:avLst/>
          </a:prstGeom>
          <a:solidFill>
            <a:srgbClr val="1F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5245294" name="TextBox 92"/>
          <p:cNvSpPr txBox="1"/>
          <p:nvPr/>
        </p:nvSpPr>
        <p:spPr bwMode="auto">
          <a:xfrm>
            <a:off x="6263640" y="6099048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50" b="0" i="0">
                <a:solidFill>
                  <a:srgbClr val="8B8FA8"/>
                </a:solidFill>
                <a:latin typeface="Calibri"/>
              </a:rPr>
              <a:t>All platforms far below the hate speech reference corpus (avg 0.595). TikTok shows the highest toxicity (0.123), consistent with its highest othering rate. Twitter toxicity is exceptionally low (0.003) — immigration keyword-sampled corpus may over-represent policy/neutral content.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577365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7373502" name="TextBox 2"/>
          <p:cNvSpPr txBox="1"/>
          <p:nvPr/>
        </p:nvSpPr>
        <p:spPr bwMode="auto">
          <a:xfrm>
            <a:off x="11091671" y="126999"/>
            <a:ext cx="1007280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fr-FR" sz="900" b="0" i="0">
                <a:solidFill>
                  <a:srgbClr val="8B8FA8"/>
                </a:solidFill>
                <a:latin typeface="Calibri"/>
              </a:rPr>
              <a:t>6</a:t>
            </a:r>
            <a:r>
              <a:rPr sz="900" b="0" i="0">
                <a:solidFill>
                  <a:srgbClr val="8B8FA8"/>
                </a:solidFill>
                <a:latin typeface="Calibri"/>
              </a:rPr>
              <a:t> / </a:t>
            </a:r>
            <a:r>
              <a:rPr lang="fr-FR" sz="900" b="0" i="0">
                <a:solidFill>
                  <a:srgbClr val="8B8FA8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701299573" name="TextBox 3"/>
          <p:cNvSpPr txBox="1"/>
          <p:nvPr/>
        </p:nvSpPr>
        <p:spPr bwMode="auto">
          <a:xfrm>
            <a:off x="548640" y="365760"/>
            <a:ext cx="8229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6C63FF"/>
                </a:solidFill>
                <a:latin typeface="Calibri"/>
              </a:rPr>
              <a:t>BIBLIOGRAPHY</a:t>
            </a:r>
            <a:endParaRPr/>
          </a:p>
        </p:txBody>
      </p:sp>
      <p:sp>
        <p:nvSpPr>
          <p:cNvPr id="1100287278" name="TextBox 4"/>
          <p:cNvSpPr txBox="1"/>
          <p:nvPr/>
        </p:nvSpPr>
        <p:spPr bwMode="auto">
          <a:xfrm>
            <a:off x="548640" y="658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E8EAF0"/>
                </a:solidFill>
                <a:latin typeface="Calibri"/>
              </a:rPr>
              <a:t>References</a:t>
            </a:r>
            <a:endParaRPr/>
          </a:p>
        </p:txBody>
      </p:sp>
      <p:sp>
        <p:nvSpPr>
          <p:cNvPr id="607766862" name="Oval 5"/>
          <p:cNvSpPr/>
          <p:nvPr/>
        </p:nvSpPr>
        <p:spPr bwMode="auto">
          <a:xfrm>
            <a:off x="502920" y="1351280"/>
            <a:ext cx="254000" cy="2540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08981001" name="TextBox 6"/>
          <p:cNvSpPr txBox="1"/>
          <p:nvPr/>
        </p:nvSpPr>
        <p:spPr bwMode="auto">
          <a:xfrm>
            <a:off x="914400" y="1325880"/>
            <a:ext cx="109728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 b="1">
                <a:solidFill>
                  <a:srgbClr val="E8EAF0"/>
                </a:solidFill>
                <a:latin typeface="Calibri"/>
              </a:rPr>
              <a:t>Baumgartner, J., Zannettou, S., Keegan, B., Squire, M., &amp; Blackburn, J. (2020). </a:t>
            </a:r>
            <a:r>
              <a:rPr sz="1050" i="1">
                <a:solidFill>
                  <a:srgbClr val="8B8FA8"/>
                </a:solidFill>
                <a:latin typeface="Calibri"/>
              </a:rPr>
              <a:t>The Pushshift Reddit dataset. Proceedings of ICWSM 2020.</a:t>
            </a:r>
            <a:endParaRPr/>
          </a:p>
          <a:p>
            <a:pPr>
              <a:defRPr/>
            </a:pPr>
            <a:r>
              <a:rPr sz="950">
                <a:solidFill>
                  <a:srgbClr val="00C9A7"/>
                </a:solidFill>
                <a:latin typeface="Calibri"/>
              </a:rPr>
              <a:t>→ Background Reddit data. Primary Reddit corpus collected via Arctic Shift API (arctic-shift.photon-reddit.com).</a:t>
            </a:r>
            <a:endParaRPr/>
          </a:p>
        </p:txBody>
      </p:sp>
      <p:sp>
        <p:nvSpPr>
          <p:cNvPr id="736481771" name="Oval 7"/>
          <p:cNvSpPr/>
          <p:nvPr/>
        </p:nvSpPr>
        <p:spPr bwMode="auto">
          <a:xfrm>
            <a:off x="502920" y="2357120"/>
            <a:ext cx="254000" cy="2540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745221170" name="TextBox 8"/>
          <p:cNvSpPr txBox="1"/>
          <p:nvPr/>
        </p:nvSpPr>
        <p:spPr bwMode="auto">
          <a:xfrm>
            <a:off x="914400" y="2331720"/>
            <a:ext cx="109728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 b="1">
                <a:solidFill>
                  <a:srgbClr val="E8EAF0"/>
                </a:solidFill>
                <a:latin typeface="Calibri"/>
              </a:rPr>
              <a:t>Grootendorst, M. (2022). </a:t>
            </a:r>
            <a:r>
              <a:rPr sz="1050" i="1">
                <a:solidFill>
                  <a:srgbClr val="8B8FA8"/>
                </a:solidFill>
                <a:latin typeface="Calibri"/>
              </a:rPr>
              <a:t>BERTopic: Neural topic modeling with a class-based TF-IDF procedure. arXiv:2203.05794.</a:t>
            </a:r>
            <a:endParaRPr/>
          </a:p>
          <a:p>
            <a:pPr>
              <a:defRPr/>
            </a:pPr>
            <a:r>
              <a:rPr sz="950">
                <a:solidFill>
                  <a:srgbClr val="00C9A7"/>
                </a:solidFill>
                <a:latin typeface="Calibri"/>
              </a:rPr>
              <a:t>→ Topic modeling framework — Step 6 of the pipeline.</a:t>
            </a:r>
            <a:endParaRPr/>
          </a:p>
        </p:txBody>
      </p:sp>
      <p:sp>
        <p:nvSpPr>
          <p:cNvPr id="1376137606" name="Oval 9"/>
          <p:cNvSpPr/>
          <p:nvPr/>
        </p:nvSpPr>
        <p:spPr bwMode="auto">
          <a:xfrm>
            <a:off x="502920" y="3362960"/>
            <a:ext cx="254000" cy="2540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415118190" name="TextBox 10"/>
          <p:cNvSpPr txBox="1"/>
          <p:nvPr/>
        </p:nvSpPr>
        <p:spPr bwMode="auto">
          <a:xfrm>
            <a:off x="914400" y="3337560"/>
            <a:ext cx="109728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 b="1">
                <a:solidFill>
                  <a:srgbClr val="E8EAF0"/>
                </a:solidFill>
                <a:latin typeface="Calibri"/>
              </a:rPr>
              <a:t>Demszky, D. et al. (2020). </a:t>
            </a:r>
            <a:r>
              <a:rPr sz="1050" i="1">
                <a:solidFill>
                  <a:srgbClr val="8B8FA8"/>
                </a:solidFill>
                <a:latin typeface="Calibri"/>
              </a:rPr>
              <a:t>GoEmotions: A dataset of fine-grained emotions. ACL 2020.</a:t>
            </a:r>
            <a:endParaRPr/>
          </a:p>
          <a:p>
            <a:pPr>
              <a:defRPr/>
            </a:pPr>
            <a:r>
              <a:rPr sz="950">
                <a:solidFill>
                  <a:srgbClr val="00C9A7"/>
                </a:solidFill>
                <a:latin typeface="Calibri"/>
              </a:rPr>
              <a:t>→ 27-category emotion model used in Step 3 (monologg/bert-base-cased-goemotions-original).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2026-06-04T11:29:42Z</dcterms:modified>
  <cp:category/>
</cp:coreProperties>
</file>